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1.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C5E"/>
        </a:solidFill>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2F3C7E">
              <a:alpha val="60000"/>
            </a:srgbClr>
          </a:solidFill>
          <a:ln/>
        </p:spPr>
      </p:sp>
      <p:sp>
        <p:nvSpPr>
          <p:cNvPr id="3" name="Shape 1"/>
          <p:cNvSpPr/>
          <p:nvPr/>
        </p:nvSpPr>
        <p:spPr>
          <a:xfrm>
            <a:off x="10607040" y="4206240"/>
            <a:ext cx="3291840" cy="3291840"/>
          </a:xfrm>
          <a:prstGeom prst="ellipse">
            <a:avLst/>
          </a:prstGeom>
          <a:solidFill>
            <a:srgbClr val="F96167">
              <a:alpha val="30000"/>
            </a:srgbClr>
          </a:solidFill>
          <a:ln/>
        </p:spPr>
      </p:sp>
      <p:sp>
        <p:nvSpPr>
          <p:cNvPr id="4" name="Shape 2"/>
          <p:cNvSpPr/>
          <p:nvPr/>
        </p:nvSpPr>
        <p:spPr>
          <a:xfrm>
            <a:off x="822960" y="777240"/>
            <a:ext cx="685800" cy="685800"/>
          </a:xfrm>
          <a:prstGeom prst="ellipse">
            <a:avLst/>
          </a:prstGeom>
          <a:solidFill>
            <a:srgbClr val="F96167"/>
          </a:solidFill>
          <a:ln/>
        </p:spPr>
      </p:sp>
      <p:pic>
        <p:nvPicPr>
          <p:cNvPr id="5" name="Image 0" descr="/home/claude/proj/icons/cart_w.png">    </p:cNvPr>
          <p:cNvPicPr>
            <a:picLocks noChangeAspect="1"/>
          </p:cNvPicPr>
          <p:nvPr/>
        </p:nvPicPr>
        <p:blipFill>
          <a:blip r:embed="rId1"/>
          <a:stretch>
            <a:fillRect/>
          </a:stretch>
        </p:blipFill>
        <p:spPr>
          <a:xfrm>
            <a:off x="1001268" y="955548"/>
            <a:ext cx="329184" cy="329184"/>
          </a:xfrm>
          <a:prstGeom prst="rect">
            <a:avLst/>
          </a:prstGeom>
        </p:spPr>
      </p:pic>
      <p:sp>
        <p:nvSpPr>
          <p:cNvPr id="6" name="Text 3"/>
          <p:cNvSpPr/>
          <p:nvPr/>
        </p:nvSpPr>
        <p:spPr>
          <a:xfrm>
            <a:off x="822960" y="2286000"/>
            <a:ext cx="96012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SHOPPER SPECTRUM</a:t>
            </a:r>
            <a:endParaRPr lang="en-US" sz="4600" dirty="0"/>
          </a:p>
        </p:txBody>
      </p:sp>
      <p:sp>
        <p:nvSpPr>
          <p:cNvPr id="7" name="Text 4"/>
          <p:cNvSpPr/>
          <p:nvPr/>
        </p:nvSpPr>
        <p:spPr>
          <a:xfrm>
            <a:off x="822960" y="3246120"/>
            <a:ext cx="8961120" cy="64008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Customer Segmentation &amp; Product Recommendation Engine for E-Commerce</a:t>
            </a:r>
            <a:endParaRPr lang="en-US" sz="1800" dirty="0"/>
          </a:p>
        </p:txBody>
      </p:sp>
      <p:sp>
        <p:nvSpPr>
          <p:cNvPr id="8" name="Text 5"/>
          <p:cNvSpPr/>
          <p:nvPr/>
        </p:nvSpPr>
        <p:spPr>
          <a:xfrm>
            <a:off x="822960" y="4160520"/>
            <a:ext cx="9601200" cy="457200"/>
          </a:xfrm>
          <a:prstGeom prst="rect">
            <a:avLst/>
          </a:prstGeom>
          <a:noFill/>
          <a:ln/>
        </p:spPr>
        <p:txBody>
          <a:bodyPr wrap="square" lIns="0" tIns="0" rIns="0" bIns="0" rtlCol="0" anchor="ctr"/>
          <a:lstStyle/>
          <a:p>
            <a:pPr indent="0" marL="0">
              <a:buNone/>
            </a:pPr>
            <a:r>
              <a:rPr lang="en-US" sz="1300" b="1" dirty="0">
                <a:solidFill>
                  <a:srgbClr val="E8ECFB"/>
                </a:solidFill>
                <a:latin typeface="Calibri" pitchFamily="34" charset="0"/>
                <a:ea typeface="Calibri" pitchFamily="34" charset="-122"/>
                <a:cs typeface="Calibri" pitchFamily="34" charset="-120"/>
              </a:rPr>
              <a:t>RFM Analysis   </a:t>
            </a:r>
            <a:pPr indent="0" marL="0">
              <a:buNone/>
            </a:pPr>
            <a:r>
              <a:rPr lang="en-US" sz="1300" dirty="0">
                <a:solidFill>
                  <a:srgbClr val="F96167"/>
                </a:solidFill>
                <a:latin typeface="Calibri" pitchFamily="34" charset="0"/>
                <a:ea typeface="Calibri" pitchFamily="34" charset="-122"/>
                <a:cs typeface="Calibri" pitchFamily="34" charset="-120"/>
              </a:rPr>
              <a:t>•   </a:t>
            </a:r>
            <a:pPr indent="0" marL="0">
              <a:buNone/>
            </a:pPr>
            <a:r>
              <a:rPr lang="en-US" sz="1300" b="1" dirty="0">
                <a:solidFill>
                  <a:srgbClr val="E8ECFB"/>
                </a:solidFill>
                <a:latin typeface="Calibri" pitchFamily="34" charset="0"/>
                <a:ea typeface="Calibri" pitchFamily="34" charset="-122"/>
                <a:cs typeface="Calibri" pitchFamily="34" charset="-120"/>
              </a:rPr>
              <a:t>K-Means Clustering   </a:t>
            </a:r>
            <a:pPr indent="0" marL="0">
              <a:buNone/>
            </a:pPr>
            <a:r>
              <a:rPr lang="en-US" sz="1300" dirty="0">
                <a:solidFill>
                  <a:srgbClr val="F96167"/>
                </a:solidFill>
                <a:latin typeface="Calibri" pitchFamily="34" charset="0"/>
                <a:ea typeface="Calibri" pitchFamily="34" charset="-122"/>
                <a:cs typeface="Calibri" pitchFamily="34" charset="-120"/>
              </a:rPr>
              <a:t>•   </a:t>
            </a:r>
            <a:pPr indent="0" marL="0">
              <a:buNone/>
            </a:pPr>
            <a:r>
              <a:rPr lang="en-US" sz="1300" b="1" dirty="0">
                <a:solidFill>
                  <a:srgbClr val="E8ECFB"/>
                </a:solidFill>
                <a:latin typeface="Calibri" pitchFamily="34" charset="0"/>
                <a:ea typeface="Calibri" pitchFamily="34" charset="-122"/>
                <a:cs typeface="Calibri" pitchFamily="34" charset="-120"/>
              </a:rPr>
              <a:t>Collaborative Filtering   </a:t>
            </a:r>
            <a:pPr indent="0" marL="0">
              <a:buNone/>
            </a:pPr>
            <a:r>
              <a:rPr lang="en-US" sz="1300" dirty="0">
                <a:solidFill>
                  <a:srgbClr val="F96167"/>
                </a:solidFill>
                <a:latin typeface="Calibri" pitchFamily="34" charset="0"/>
                <a:ea typeface="Calibri" pitchFamily="34" charset="-122"/>
                <a:cs typeface="Calibri" pitchFamily="34" charset="-120"/>
              </a:rPr>
              <a:t>•   </a:t>
            </a:r>
            <a:pPr indent="0" marL="0">
              <a:buNone/>
            </a:pPr>
            <a:r>
              <a:rPr lang="en-US" sz="1300" b="1" dirty="0">
                <a:solidFill>
                  <a:srgbClr val="E8ECFB"/>
                </a:solidFill>
                <a:latin typeface="Calibri" pitchFamily="34" charset="0"/>
                <a:ea typeface="Calibri" pitchFamily="34" charset="-122"/>
                <a:cs typeface="Calibri" pitchFamily="34" charset="-120"/>
              </a:rPr>
              <a:t>Streamlit Deployment</a:t>
            </a:r>
            <a:endParaRPr lang="en-US" sz="1300" dirty="0"/>
          </a:p>
        </p:txBody>
      </p:sp>
      <p:sp>
        <p:nvSpPr>
          <p:cNvPr id="9" name="Text 6"/>
          <p:cNvSpPr/>
          <p:nvPr/>
        </p:nvSpPr>
        <p:spPr>
          <a:xfrm>
            <a:off x="822960" y="5989320"/>
            <a:ext cx="7315200" cy="365760"/>
          </a:xfrm>
          <a:prstGeom prst="rect">
            <a:avLst/>
          </a:prstGeom>
          <a:noFill/>
          <a:ln/>
        </p:spPr>
        <p:txBody>
          <a:bodyPr wrap="square" lIns="0" tIns="0" rIns="0" bIns="0" rtlCol="0" anchor="ctr"/>
          <a:lstStyle/>
          <a:p>
            <a:pPr indent="0" marL="0">
              <a:buNone/>
            </a:pPr>
            <a:r>
              <a:rPr lang="en-US" sz="1200" dirty="0">
                <a:solidFill>
                  <a:srgbClr val="9AA0C8"/>
                </a:solidFill>
                <a:latin typeface="Calibri" pitchFamily="34" charset="0"/>
                <a:ea typeface="Calibri" pitchFamily="34" charset="-122"/>
                <a:cs typeface="Calibri" pitchFamily="34" charset="-120"/>
              </a:rPr>
              <a:t>Project Report  |  E-Commerce &amp; Retail Analytics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lIns="0" tIns="0" rIns="0" bIns="0"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01  PROBLEM STATEMENT</a:t>
            </a:r>
            <a:endParaRPr lang="en-US" sz="1200" dirty="0"/>
          </a:p>
        </p:txBody>
      </p:sp>
      <p:sp>
        <p:nvSpPr>
          <p:cNvPr id="3" name="Text 1"/>
          <p:cNvSpPr/>
          <p:nvPr/>
        </p:nvSpPr>
        <p:spPr>
          <a:xfrm>
            <a:off x="548640" y="777240"/>
            <a:ext cx="8229600" cy="640080"/>
          </a:xfrm>
          <a:prstGeom prst="rect">
            <a:avLst/>
          </a:prstGeom>
          <a:noFill/>
          <a:ln/>
        </p:spPr>
        <p:txBody>
          <a:bodyPr wrap="square" lIns="0" tIns="0" rIns="0" bIns="0" rtlCol="0" anchor="ctr"/>
          <a:lstStyle/>
          <a:p>
            <a:pPr indent="0" marL="0">
              <a:buNone/>
            </a:pPr>
            <a:r>
              <a:rPr lang="en-US" sz="3000" b="1" dirty="0">
                <a:solidFill>
                  <a:srgbClr val="24263B"/>
                </a:solidFill>
                <a:latin typeface="Cambria" pitchFamily="34" charset="0"/>
                <a:ea typeface="Cambria" pitchFamily="34" charset="-122"/>
                <a:cs typeface="Cambria" pitchFamily="34" charset="-120"/>
              </a:rPr>
              <a:t>Why This Project Matters</a:t>
            </a:r>
            <a:endParaRPr lang="en-US" sz="3000" dirty="0"/>
          </a:p>
        </p:txBody>
      </p:sp>
      <p:sp>
        <p:nvSpPr>
          <p:cNvPr id="4" name="Text 2"/>
          <p:cNvSpPr/>
          <p:nvPr/>
        </p:nvSpPr>
        <p:spPr>
          <a:xfrm>
            <a:off x="548640" y="1554480"/>
            <a:ext cx="6400800" cy="1554480"/>
          </a:xfrm>
          <a:prstGeom prst="rect">
            <a:avLst/>
          </a:prstGeom>
          <a:noFill/>
          <a:ln/>
        </p:spPr>
        <p:txBody>
          <a:bodyPr wrap="square" lIns="0" tIns="0" rIns="0" bIns="0" rtlCol="0" anchor="t"/>
          <a:lstStyle/>
          <a:p>
            <a:pPr indent="0" marL="0">
              <a:buNone/>
            </a:pPr>
            <a:r>
              <a:rPr lang="en-US" sz="1400" dirty="0">
                <a:solidFill>
                  <a:srgbClr val="6B7186"/>
                </a:solidFill>
                <a:latin typeface="Calibri" pitchFamily="34" charset="0"/>
                <a:ea typeface="Calibri" pitchFamily="34" charset="-122"/>
                <a:cs typeface="Calibri" pitchFamily="34" charset="-120"/>
              </a:rPr>
              <a:t>The global e-commerce industry generates massive volumes of transaction data every day. Buried inside that data are clear patterns of customer purchasing behavior — patterns that, if uncovered, let a business identify its most valuable buyers and recommend the right products to the right shoppers.</a:t>
            </a:r>
            <a:endParaRPr lang="en-US" sz="1400" dirty="0"/>
          </a:p>
        </p:txBody>
      </p:sp>
      <p:sp>
        <p:nvSpPr>
          <p:cNvPr id="5" name="Text 3"/>
          <p:cNvSpPr/>
          <p:nvPr/>
        </p:nvSpPr>
        <p:spPr>
          <a:xfrm>
            <a:off x="548640" y="2880360"/>
            <a:ext cx="6400800" cy="1097280"/>
          </a:xfrm>
          <a:prstGeom prst="rect">
            <a:avLst/>
          </a:prstGeom>
          <a:noFill/>
          <a:ln/>
        </p:spPr>
        <p:txBody>
          <a:bodyPr wrap="square" lIns="0" tIns="0" rIns="0" bIns="0" rtlCol="0" anchor="t"/>
          <a:lstStyle/>
          <a:p>
            <a:pPr indent="0" marL="0">
              <a:buNone/>
            </a:pPr>
            <a:r>
              <a:rPr lang="en-US" sz="1400" dirty="0">
                <a:solidFill>
                  <a:srgbClr val="24263B"/>
                </a:solidFill>
                <a:latin typeface="Calibri" pitchFamily="34" charset="0"/>
                <a:ea typeface="Calibri" pitchFamily="34" charset="-122"/>
                <a:cs typeface="Calibri" pitchFamily="34" charset="-120"/>
              </a:rPr>
              <a:t>This project analyzes online retail transaction data to segment customers using RFM (Recency, Frequency, Monetary) analysis and to power a product recommendation system built on collaborative filtering.</a:t>
            </a:r>
            <a:endParaRPr lang="en-US" sz="1400" dirty="0"/>
          </a:p>
        </p:txBody>
      </p:sp>
      <p:sp>
        <p:nvSpPr>
          <p:cNvPr id="6" name="Shape 4"/>
          <p:cNvSpPr/>
          <p:nvPr/>
        </p:nvSpPr>
        <p:spPr>
          <a:xfrm>
            <a:off x="7360920" y="1554480"/>
            <a:ext cx="4297680" cy="960120"/>
          </a:xfrm>
          <a:prstGeom prst="roundRect">
            <a:avLst>
              <a:gd name="adj" fmla="val 8571"/>
            </a:avLst>
          </a:prstGeom>
          <a:solidFill>
            <a:srgbClr val="FBEFEE"/>
          </a:solidFill>
          <a:ln/>
          <a:effectLst>
            <a:outerShdw sx="100000" sy="100000" kx="0" ky="0" algn="bl" rotWithShape="0" blurRad="101600" dist="38100" dir="2700000">
              <a:srgbClr val="1A1A2E">
                <a:alpha val="12000"/>
              </a:srgbClr>
            </a:outerShdw>
          </a:effectLst>
        </p:spPr>
      </p:sp>
      <p:sp>
        <p:nvSpPr>
          <p:cNvPr id="7" name="Shape 5"/>
          <p:cNvSpPr/>
          <p:nvPr/>
        </p:nvSpPr>
        <p:spPr>
          <a:xfrm>
            <a:off x="7543800" y="1755648"/>
            <a:ext cx="548640" cy="548640"/>
          </a:xfrm>
          <a:prstGeom prst="ellipse">
            <a:avLst/>
          </a:prstGeom>
          <a:solidFill>
            <a:srgbClr val="FFFFFF"/>
          </a:solidFill>
          <a:ln/>
        </p:spPr>
      </p:sp>
      <p:pic>
        <p:nvPicPr>
          <p:cNvPr id="8" name="Image 0" descr="/home/claude/proj/icons/target_coral.png">    </p:cNvPr>
          <p:cNvPicPr>
            <a:picLocks noChangeAspect="1"/>
          </p:cNvPicPr>
          <p:nvPr/>
        </p:nvPicPr>
        <p:blipFill>
          <a:blip r:embed="rId1"/>
          <a:stretch>
            <a:fillRect/>
          </a:stretch>
        </p:blipFill>
        <p:spPr>
          <a:xfrm>
            <a:off x="7686446" y="1898294"/>
            <a:ext cx="263347" cy="263347"/>
          </a:xfrm>
          <a:prstGeom prst="rect">
            <a:avLst/>
          </a:prstGeom>
        </p:spPr>
      </p:pic>
      <p:sp>
        <p:nvSpPr>
          <p:cNvPr id="9" name="Text 6"/>
          <p:cNvSpPr/>
          <p:nvPr/>
        </p:nvSpPr>
        <p:spPr>
          <a:xfrm>
            <a:off x="8229600" y="1664208"/>
            <a:ext cx="3291840" cy="320040"/>
          </a:xfrm>
          <a:prstGeom prst="rect">
            <a:avLst/>
          </a:prstGeom>
          <a:noFill/>
          <a:ln/>
        </p:spPr>
        <p:txBody>
          <a:bodyPr wrap="square" lIns="0" tIns="0" rIns="0" bIns="0" rtlCol="0" anchor="ctr"/>
          <a:lstStyle/>
          <a:p>
            <a:pPr indent="0" marL="0">
              <a:buNone/>
            </a:pPr>
            <a:r>
              <a:rPr lang="en-US" sz="1300" b="1" dirty="0">
                <a:solidFill>
                  <a:srgbClr val="24263B"/>
                </a:solidFill>
                <a:latin typeface="Calibri" pitchFamily="34" charset="0"/>
                <a:ea typeface="Calibri" pitchFamily="34" charset="-122"/>
                <a:cs typeface="Calibri" pitchFamily="34" charset="-120"/>
              </a:rPr>
              <a:t>Targeted Marketing</a:t>
            </a:r>
            <a:endParaRPr lang="en-US" sz="1300" dirty="0"/>
          </a:p>
        </p:txBody>
      </p:sp>
      <p:sp>
        <p:nvSpPr>
          <p:cNvPr id="10" name="Text 7"/>
          <p:cNvSpPr/>
          <p:nvPr/>
        </p:nvSpPr>
        <p:spPr>
          <a:xfrm>
            <a:off x="8229600" y="1993392"/>
            <a:ext cx="3291840" cy="457200"/>
          </a:xfrm>
          <a:prstGeom prst="rect">
            <a:avLst/>
          </a:prstGeom>
          <a:noFill/>
          <a:ln/>
        </p:spPr>
        <p:txBody>
          <a:bodyPr wrap="square" lIns="0" tIns="0" rIns="0" bIns="0" rtlCol="0" anchor="ctr"/>
          <a:lstStyle/>
          <a:p>
            <a:pPr indent="0" marL="0">
              <a:buNone/>
            </a:pPr>
            <a:r>
              <a:rPr lang="en-US" sz="1050" dirty="0">
                <a:solidFill>
                  <a:srgbClr val="6B7186"/>
                </a:solidFill>
                <a:latin typeface="Calibri" pitchFamily="34" charset="0"/>
                <a:ea typeface="Calibri" pitchFamily="34" charset="-122"/>
                <a:cs typeface="Calibri" pitchFamily="34" charset="-120"/>
              </a:rPr>
              <a:t>Segment customers for focused campaigns</a:t>
            </a:r>
            <a:endParaRPr lang="en-US" sz="1050" dirty="0"/>
          </a:p>
        </p:txBody>
      </p:sp>
      <p:sp>
        <p:nvSpPr>
          <p:cNvPr id="11" name="Shape 8"/>
          <p:cNvSpPr/>
          <p:nvPr/>
        </p:nvSpPr>
        <p:spPr>
          <a:xfrm>
            <a:off x="7360920" y="2670048"/>
            <a:ext cx="4297680" cy="960120"/>
          </a:xfrm>
          <a:prstGeom prst="roundRect">
            <a:avLst>
              <a:gd name="adj" fmla="val 8571"/>
            </a:avLst>
          </a:prstGeom>
          <a:solidFill>
            <a:srgbClr val="FBEFEE"/>
          </a:solidFill>
          <a:ln/>
          <a:effectLst>
            <a:outerShdw sx="100000" sy="100000" kx="0" ky="0" algn="bl" rotWithShape="0" blurRad="101600" dist="38100" dir="2700000">
              <a:srgbClr val="1A1A2E">
                <a:alpha val="12000"/>
              </a:srgbClr>
            </a:outerShdw>
          </a:effectLst>
        </p:spPr>
      </p:sp>
      <p:sp>
        <p:nvSpPr>
          <p:cNvPr id="12" name="Shape 9"/>
          <p:cNvSpPr/>
          <p:nvPr/>
        </p:nvSpPr>
        <p:spPr>
          <a:xfrm>
            <a:off x="7543800" y="2871216"/>
            <a:ext cx="548640" cy="548640"/>
          </a:xfrm>
          <a:prstGeom prst="ellipse">
            <a:avLst/>
          </a:prstGeom>
          <a:solidFill>
            <a:srgbClr val="FFFFFF"/>
          </a:solidFill>
          <a:ln/>
        </p:spPr>
      </p:sp>
      <p:pic>
        <p:nvPicPr>
          <p:cNvPr id="13" name="Image 1" descr="/home/claude/proj/icons/chart_coral.png">    </p:cNvPr>
          <p:cNvPicPr>
            <a:picLocks noChangeAspect="1"/>
          </p:cNvPicPr>
          <p:nvPr/>
        </p:nvPicPr>
        <p:blipFill>
          <a:blip r:embed="rId2"/>
          <a:stretch>
            <a:fillRect/>
          </a:stretch>
        </p:blipFill>
        <p:spPr>
          <a:xfrm>
            <a:off x="7686446" y="3013862"/>
            <a:ext cx="263347" cy="263347"/>
          </a:xfrm>
          <a:prstGeom prst="rect">
            <a:avLst/>
          </a:prstGeom>
        </p:spPr>
      </p:pic>
      <p:sp>
        <p:nvSpPr>
          <p:cNvPr id="14" name="Text 10"/>
          <p:cNvSpPr/>
          <p:nvPr/>
        </p:nvSpPr>
        <p:spPr>
          <a:xfrm>
            <a:off x="8229600" y="2779776"/>
            <a:ext cx="3291840" cy="320040"/>
          </a:xfrm>
          <a:prstGeom prst="rect">
            <a:avLst/>
          </a:prstGeom>
          <a:noFill/>
          <a:ln/>
        </p:spPr>
        <p:txBody>
          <a:bodyPr wrap="square" lIns="0" tIns="0" rIns="0" bIns="0" rtlCol="0" anchor="ctr"/>
          <a:lstStyle/>
          <a:p>
            <a:pPr indent="0" marL="0">
              <a:buNone/>
            </a:pPr>
            <a:r>
              <a:rPr lang="en-US" sz="1300" b="1" dirty="0">
                <a:solidFill>
                  <a:srgbClr val="24263B"/>
                </a:solidFill>
                <a:latin typeface="Calibri" pitchFamily="34" charset="0"/>
                <a:ea typeface="Calibri" pitchFamily="34" charset="-122"/>
                <a:cs typeface="Calibri" pitchFamily="34" charset="-120"/>
              </a:rPr>
              <a:t>Personalized Recs</a:t>
            </a:r>
            <a:endParaRPr lang="en-US" sz="1300" dirty="0"/>
          </a:p>
        </p:txBody>
      </p:sp>
      <p:sp>
        <p:nvSpPr>
          <p:cNvPr id="15" name="Text 11"/>
          <p:cNvSpPr/>
          <p:nvPr/>
        </p:nvSpPr>
        <p:spPr>
          <a:xfrm>
            <a:off x="8229600" y="3108960"/>
            <a:ext cx="3291840" cy="457200"/>
          </a:xfrm>
          <a:prstGeom prst="rect">
            <a:avLst/>
          </a:prstGeom>
          <a:noFill/>
          <a:ln/>
        </p:spPr>
        <p:txBody>
          <a:bodyPr wrap="square" lIns="0" tIns="0" rIns="0" bIns="0" rtlCol="0" anchor="ctr"/>
          <a:lstStyle/>
          <a:p>
            <a:pPr indent="0" marL="0">
              <a:buNone/>
            </a:pPr>
            <a:r>
              <a:rPr lang="en-US" sz="1050" dirty="0">
                <a:solidFill>
                  <a:srgbClr val="6B7186"/>
                </a:solidFill>
                <a:latin typeface="Calibri" pitchFamily="34" charset="0"/>
                <a:ea typeface="Calibri" pitchFamily="34" charset="-122"/>
                <a:cs typeface="Calibri" pitchFamily="34" charset="-120"/>
              </a:rPr>
              <a:t>Product suggestions on the storefront</a:t>
            </a:r>
            <a:endParaRPr lang="en-US" sz="1050" dirty="0"/>
          </a:p>
        </p:txBody>
      </p:sp>
      <p:sp>
        <p:nvSpPr>
          <p:cNvPr id="16" name="Shape 12"/>
          <p:cNvSpPr/>
          <p:nvPr/>
        </p:nvSpPr>
        <p:spPr>
          <a:xfrm>
            <a:off x="7360920" y="3785616"/>
            <a:ext cx="4297680" cy="960120"/>
          </a:xfrm>
          <a:prstGeom prst="roundRect">
            <a:avLst>
              <a:gd name="adj" fmla="val 8571"/>
            </a:avLst>
          </a:prstGeom>
          <a:solidFill>
            <a:srgbClr val="FBEFEE"/>
          </a:solidFill>
          <a:ln/>
          <a:effectLst>
            <a:outerShdw sx="100000" sy="100000" kx="0" ky="0" algn="bl" rotWithShape="0" blurRad="101600" dist="38100" dir="2700000">
              <a:srgbClr val="1A1A2E">
                <a:alpha val="12000"/>
              </a:srgbClr>
            </a:outerShdw>
          </a:effectLst>
        </p:spPr>
      </p:sp>
      <p:sp>
        <p:nvSpPr>
          <p:cNvPr id="17" name="Shape 13"/>
          <p:cNvSpPr/>
          <p:nvPr/>
        </p:nvSpPr>
        <p:spPr>
          <a:xfrm>
            <a:off x="7543800" y="3986784"/>
            <a:ext cx="548640" cy="548640"/>
          </a:xfrm>
          <a:prstGeom prst="ellipse">
            <a:avLst/>
          </a:prstGeom>
          <a:solidFill>
            <a:srgbClr val="FFFFFF"/>
          </a:solidFill>
          <a:ln/>
        </p:spPr>
      </p:sp>
      <p:pic>
        <p:nvPicPr>
          <p:cNvPr id="18" name="Image 2" descr="/home/claude/proj/icons/clock_coral.png">    </p:cNvPr>
          <p:cNvPicPr>
            <a:picLocks noChangeAspect="1"/>
          </p:cNvPicPr>
          <p:nvPr/>
        </p:nvPicPr>
        <p:blipFill>
          <a:blip r:embed="rId3"/>
          <a:stretch>
            <a:fillRect/>
          </a:stretch>
        </p:blipFill>
        <p:spPr>
          <a:xfrm>
            <a:off x="7686446" y="4129430"/>
            <a:ext cx="263347" cy="263347"/>
          </a:xfrm>
          <a:prstGeom prst="rect">
            <a:avLst/>
          </a:prstGeom>
        </p:spPr>
      </p:pic>
      <p:sp>
        <p:nvSpPr>
          <p:cNvPr id="19" name="Text 14"/>
          <p:cNvSpPr/>
          <p:nvPr/>
        </p:nvSpPr>
        <p:spPr>
          <a:xfrm>
            <a:off x="8229600" y="3895344"/>
            <a:ext cx="3291840" cy="320040"/>
          </a:xfrm>
          <a:prstGeom prst="rect">
            <a:avLst/>
          </a:prstGeom>
          <a:noFill/>
          <a:ln/>
        </p:spPr>
        <p:txBody>
          <a:bodyPr wrap="square" lIns="0" tIns="0" rIns="0" bIns="0" rtlCol="0" anchor="ctr"/>
          <a:lstStyle/>
          <a:p>
            <a:pPr indent="0" marL="0">
              <a:buNone/>
            </a:pPr>
            <a:r>
              <a:rPr lang="en-US" sz="1300" b="1" dirty="0">
                <a:solidFill>
                  <a:srgbClr val="24263B"/>
                </a:solidFill>
                <a:latin typeface="Calibri" pitchFamily="34" charset="0"/>
                <a:ea typeface="Calibri" pitchFamily="34" charset="-122"/>
                <a:cs typeface="Calibri" pitchFamily="34" charset="-120"/>
              </a:rPr>
              <a:t>Retention Programs</a:t>
            </a:r>
            <a:endParaRPr lang="en-US" sz="1300" dirty="0"/>
          </a:p>
        </p:txBody>
      </p:sp>
      <p:sp>
        <p:nvSpPr>
          <p:cNvPr id="20" name="Text 15"/>
          <p:cNvSpPr/>
          <p:nvPr/>
        </p:nvSpPr>
        <p:spPr>
          <a:xfrm>
            <a:off x="8229600" y="4224528"/>
            <a:ext cx="3291840" cy="457200"/>
          </a:xfrm>
          <a:prstGeom prst="rect">
            <a:avLst/>
          </a:prstGeom>
          <a:noFill/>
          <a:ln/>
        </p:spPr>
        <p:txBody>
          <a:bodyPr wrap="square" lIns="0" tIns="0" rIns="0" bIns="0" rtlCol="0" anchor="ctr"/>
          <a:lstStyle/>
          <a:p>
            <a:pPr indent="0" marL="0">
              <a:buNone/>
            </a:pPr>
            <a:r>
              <a:rPr lang="en-US" sz="1050" dirty="0">
                <a:solidFill>
                  <a:srgbClr val="6B7186"/>
                </a:solidFill>
                <a:latin typeface="Calibri" pitchFamily="34" charset="0"/>
                <a:ea typeface="Calibri" pitchFamily="34" charset="-122"/>
                <a:cs typeface="Calibri" pitchFamily="34" charset="-120"/>
              </a:rPr>
              <a:t>Spot at-risk customers early</a:t>
            </a:r>
            <a:endParaRPr lang="en-US" sz="1050" dirty="0"/>
          </a:p>
        </p:txBody>
      </p:sp>
      <p:sp>
        <p:nvSpPr>
          <p:cNvPr id="21" name="Shape 16"/>
          <p:cNvSpPr/>
          <p:nvPr/>
        </p:nvSpPr>
        <p:spPr>
          <a:xfrm>
            <a:off x="7360920" y="4901184"/>
            <a:ext cx="4297680" cy="960120"/>
          </a:xfrm>
          <a:prstGeom prst="roundRect">
            <a:avLst>
              <a:gd name="adj" fmla="val 8571"/>
            </a:avLst>
          </a:prstGeom>
          <a:solidFill>
            <a:srgbClr val="FBEFEE"/>
          </a:solidFill>
          <a:ln/>
          <a:effectLst>
            <a:outerShdw sx="100000" sy="100000" kx="0" ky="0" algn="bl" rotWithShape="0" blurRad="101600" dist="38100" dir="2700000">
              <a:srgbClr val="1A1A2E">
                <a:alpha val="12000"/>
              </a:srgbClr>
            </a:outerShdw>
          </a:effectLst>
        </p:spPr>
      </p:sp>
      <p:sp>
        <p:nvSpPr>
          <p:cNvPr id="22" name="Shape 17"/>
          <p:cNvSpPr/>
          <p:nvPr/>
        </p:nvSpPr>
        <p:spPr>
          <a:xfrm>
            <a:off x="7543800" y="5102352"/>
            <a:ext cx="548640" cy="548640"/>
          </a:xfrm>
          <a:prstGeom prst="ellipse">
            <a:avLst/>
          </a:prstGeom>
          <a:solidFill>
            <a:srgbClr val="FFFFFF"/>
          </a:solidFill>
          <a:ln/>
        </p:spPr>
      </p:sp>
      <p:pic>
        <p:nvPicPr>
          <p:cNvPr id="23" name="Image 3" descr="/home/claude/proj/icons/coins_coral.png">    </p:cNvPr>
          <p:cNvPicPr>
            <a:picLocks noChangeAspect="1"/>
          </p:cNvPicPr>
          <p:nvPr/>
        </p:nvPicPr>
        <p:blipFill>
          <a:blip r:embed="rId4"/>
          <a:stretch>
            <a:fillRect/>
          </a:stretch>
        </p:blipFill>
        <p:spPr>
          <a:xfrm>
            <a:off x="7686446" y="5244998"/>
            <a:ext cx="263347" cy="263347"/>
          </a:xfrm>
          <a:prstGeom prst="rect">
            <a:avLst/>
          </a:prstGeom>
        </p:spPr>
      </p:pic>
      <p:sp>
        <p:nvSpPr>
          <p:cNvPr id="24" name="Text 18"/>
          <p:cNvSpPr/>
          <p:nvPr/>
        </p:nvSpPr>
        <p:spPr>
          <a:xfrm>
            <a:off x="8229600" y="5010912"/>
            <a:ext cx="3291840" cy="320040"/>
          </a:xfrm>
          <a:prstGeom prst="rect">
            <a:avLst/>
          </a:prstGeom>
          <a:noFill/>
          <a:ln/>
        </p:spPr>
        <p:txBody>
          <a:bodyPr wrap="square" lIns="0" tIns="0" rIns="0" bIns="0" rtlCol="0" anchor="ctr"/>
          <a:lstStyle/>
          <a:p>
            <a:pPr indent="0" marL="0">
              <a:buNone/>
            </a:pPr>
            <a:r>
              <a:rPr lang="en-US" sz="1300" b="1" dirty="0">
                <a:solidFill>
                  <a:srgbClr val="24263B"/>
                </a:solidFill>
                <a:latin typeface="Calibri" pitchFamily="34" charset="0"/>
                <a:ea typeface="Calibri" pitchFamily="34" charset="-122"/>
                <a:cs typeface="Calibri" pitchFamily="34" charset="-120"/>
              </a:rPr>
              <a:t>Dynamic Pricing</a:t>
            </a:r>
            <a:endParaRPr lang="en-US" sz="1300" dirty="0"/>
          </a:p>
        </p:txBody>
      </p:sp>
      <p:sp>
        <p:nvSpPr>
          <p:cNvPr id="25" name="Text 19"/>
          <p:cNvSpPr/>
          <p:nvPr/>
        </p:nvSpPr>
        <p:spPr>
          <a:xfrm>
            <a:off x="8229600" y="5340096"/>
            <a:ext cx="3291840" cy="457200"/>
          </a:xfrm>
          <a:prstGeom prst="rect">
            <a:avLst/>
          </a:prstGeom>
          <a:noFill/>
          <a:ln/>
        </p:spPr>
        <p:txBody>
          <a:bodyPr wrap="square" lIns="0" tIns="0" rIns="0" bIns="0" rtlCol="0" anchor="ctr"/>
          <a:lstStyle/>
          <a:p>
            <a:pPr indent="0" marL="0">
              <a:buNone/>
            </a:pPr>
            <a:r>
              <a:rPr lang="en-US" sz="1050" dirty="0">
                <a:solidFill>
                  <a:srgbClr val="6B7186"/>
                </a:solidFill>
                <a:latin typeface="Calibri" pitchFamily="34" charset="0"/>
                <a:ea typeface="Calibri" pitchFamily="34" charset="-122"/>
                <a:cs typeface="Calibri" pitchFamily="34" charset="-120"/>
              </a:rPr>
              <a:t>Price strategy by purchase behavior</a:t>
            </a:r>
            <a:endParaRPr lang="en-US" sz="1050" dirty="0"/>
          </a:p>
        </p:txBody>
      </p:sp>
      <p:sp>
        <p:nvSpPr>
          <p:cNvPr id="26" name="Text 20"/>
          <p:cNvSpPr/>
          <p:nvPr/>
        </p:nvSpPr>
        <p:spPr>
          <a:xfrm>
            <a:off x="457200" y="6473952"/>
            <a:ext cx="3657600" cy="274320"/>
          </a:xfrm>
          <a:prstGeom prst="rect">
            <a:avLst/>
          </a:prstGeom>
          <a:noFill/>
          <a:ln/>
        </p:spPr>
        <p:txBody>
          <a:bodyPr wrap="square" lIns="0" tIns="0" rIns="0" bIns="0" rtlCol="0" anchor="ctr"/>
          <a:lstStyle/>
          <a:p>
            <a:pPr indent="0" marL="0">
              <a:buNone/>
            </a:pPr>
            <a:r>
              <a:rPr lang="en-US" sz="900" spc="200" kern="0" dirty="0">
                <a:solidFill>
                  <a:srgbClr val="6B7186"/>
                </a:solidFill>
                <a:latin typeface="Calibri" pitchFamily="34" charset="0"/>
                <a:ea typeface="Calibri" pitchFamily="34" charset="-122"/>
                <a:cs typeface="Calibri" pitchFamily="34" charset="-120"/>
              </a:rPr>
              <a:t>SHOPPER SPECTRUM</a:t>
            </a:r>
            <a:endParaRPr lang="en-US" sz="900" dirty="0"/>
          </a:p>
        </p:txBody>
      </p:sp>
      <p:sp>
        <p:nvSpPr>
          <p:cNvPr id="27" name="Text 21"/>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718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3FA"/>
        </a:solidFill>
      </p:bgPr>
    </p:bg>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lIns="0" tIns="0" rIns="0" bIns="0"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02  DATASET</a:t>
            </a:r>
            <a:endParaRPr lang="en-US" sz="1200" dirty="0"/>
          </a:p>
        </p:txBody>
      </p:sp>
      <p:sp>
        <p:nvSpPr>
          <p:cNvPr id="3" name="Text 1"/>
          <p:cNvSpPr/>
          <p:nvPr/>
        </p:nvSpPr>
        <p:spPr>
          <a:xfrm>
            <a:off x="548640" y="777240"/>
            <a:ext cx="9144000" cy="640080"/>
          </a:xfrm>
          <a:prstGeom prst="rect">
            <a:avLst/>
          </a:prstGeom>
          <a:noFill/>
          <a:ln/>
        </p:spPr>
        <p:txBody>
          <a:bodyPr wrap="square" lIns="0" tIns="0" rIns="0" bIns="0" rtlCol="0" anchor="ctr"/>
          <a:lstStyle/>
          <a:p>
            <a:pPr indent="0" marL="0">
              <a:buNone/>
            </a:pPr>
            <a:r>
              <a:rPr lang="en-US" sz="3000" b="1" dirty="0">
                <a:solidFill>
                  <a:srgbClr val="24263B"/>
                </a:solidFill>
                <a:latin typeface="Cambria" pitchFamily="34" charset="0"/>
                <a:ea typeface="Cambria" pitchFamily="34" charset="-122"/>
                <a:cs typeface="Cambria" pitchFamily="34" charset="-120"/>
              </a:rPr>
              <a:t>Online Retail Transaction Dataset</a:t>
            </a:r>
            <a:endParaRPr lang="en-US" sz="3000" dirty="0"/>
          </a:p>
        </p:txBody>
      </p:sp>
      <p:sp>
        <p:nvSpPr>
          <p:cNvPr id="4" name="Text 2"/>
          <p:cNvSpPr/>
          <p:nvPr/>
        </p:nvSpPr>
        <p:spPr>
          <a:xfrm>
            <a:off x="548640" y="1481328"/>
            <a:ext cx="7863840" cy="548640"/>
          </a:xfrm>
          <a:prstGeom prst="rect">
            <a:avLst/>
          </a:prstGeom>
          <a:noFill/>
          <a:ln/>
        </p:spPr>
        <p:txBody>
          <a:bodyPr wrap="square" lIns="0" tIns="0" rIns="0" bIns="0" rtlCol="0" anchor="ctr"/>
          <a:lstStyle/>
          <a:p>
            <a:pPr indent="0" marL="0">
              <a:buNone/>
            </a:pPr>
            <a:r>
              <a:rPr lang="en-US" sz="1300" dirty="0">
                <a:solidFill>
                  <a:srgbClr val="6B7186"/>
                </a:solidFill>
                <a:latin typeface="Calibri" pitchFamily="34" charset="0"/>
                <a:ea typeface="Calibri" pitchFamily="34" charset="-122"/>
                <a:cs typeface="Calibri" pitchFamily="34" charset="-120"/>
              </a:rPr>
              <a:t>Real-world e-commerce transaction records containing everything needed to compute RFM values and build a product similarity model — invoice numbers, product codes, quantities, prices and customer IDs.</a:t>
            </a:r>
            <a:endParaRPr lang="en-US" sz="1300" dirty="0"/>
          </a:p>
        </p:txBody>
      </p:sp>
      <p:sp>
        <p:nvSpPr>
          <p:cNvPr id="5" name="Shape 3"/>
          <p:cNvSpPr/>
          <p:nvPr/>
        </p:nvSpPr>
        <p:spPr>
          <a:xfrm>
            <a:off x="548640" y="2240280"/>
            <a:ext cx="2743200" cy="1005840"/>
          </a:xfrm>
          <a:prstGeom prst="roundRect">
            <a:avLst>
              <a:gd name="adj" fmla="val 7273"/>
            </a:avLst>
          </a:prstGeom>
          <a:solidFill>
            <a:srgbClr val="FFFFFF"/>
          </a:solidFill>
          <a:ln/>
          <a:effectLst>
            <a:outerShdw sx="100000" sy="100000" kx="0" ky="0" algn="bl" rotWithShape="0" blurRad="101600" dist="38100" dir="2700000">
              <a:srgbClr val="1A1A2E">
                <a:alpha val="12000"/>
              </a:srgbClr>
            </a:outerShdw>
          </a:effectLst>
        </p:spPr>
      </p:sp>
      <p:sp>
        <p:nvSpPr>
          <p:cNvPr id="6" name="Text 4"/>
          <p:cNvSpPr/>
          <p:nvPr/>
        </p:nvSpPr>
        <p:spPr>
          <a:xfrm>
            <a:off x="713232" y="2359152"/>
            <a:ext cx="2414016" cy="320040"/>
          </a:xfrm>
          <a:prstGeom prst="rect">
            <a:avLst/>
          </a:prstGeom>
          <a:noFill/>
          <a:ln/>
        </p:spPr>
        <p:txBody>
          <a:bodyPr wrap="square" lIns="0" tIns="0" rIns="0" bIns="0" rtlCol="0" anchor="ctr"/>
          <a:lstStyle/>
          <a:p>
            <a:pPr indent="0" marL="0">
              <a:buNone/>
            </a:pPr>
            <a:r>
              <a:rPr lang="en-US" sz="1350" b="1" dirty="0">
                <a:solidFill>
                  <a:srgbClr val="2F3C7E"/>
                </a:solidFill>
                <a:latin typeface="Calibri" pitchFamily="34" charset="0"/>
                <a:ea typeface="Calibri" pitchFamily="34" charset="-122"/>
                <a:cs typeface="Calibri" pitchFamily="34" charset="-120"/>
              </a:rPr>
              <a:t>InvoiceNo</a:t>
            </a:r>
            <a:endParaRPr lang="en-US" sz="1350" dirty="0"/>
          </a:p>
        </p:txBody>
      </p:sp>
      <p:sp>
        <p:nvSpPr>
          <p:cNvPr id="7" name="Text 5"/>
          <p:cNvSpPr/>
          <p:nvPr/>
        </p:nvSpPr>
        <p:spPr>
          <a:xfrm>
            <a:off x="713232" y="2697480"/>
            <a:ext cx="2414016" cy="502920"/>
          </a:xfrm>
          <a:prstGeom prst="rect">
            <a:avLst/>
          </a:prstGeom>
          <a:noFill/>
          <a:ln/>
        </p:spPr>
        <p:txBody>
          <a:bodyPr wrap="square" lIns="0" tIns="0" rIns="0" bIns="0" rtlCol="0" anchor="ctr"/>
          <a:lstStyle/>
          <a:p>
            <a:pPr indent="0" marL="0">
              <a:buNone/>
            </a:pPr>
            <a:r>
              <a:rPr lang="en-US" sz="1050" dirty="0">
                <a:solidFill>
                  <a:srgbClr val="6B7186"/>
                </a:solidFill>
                <a:latin typeface="Calibri" pitchFamily="34" charset="0"/>
                <a:ea typeface="Calibri" pitchFamily="34" charset="-122"/>
                <a:cs typeface="Calibri" pitchFamily="34" charset="-120"/>
              </a:rPr>
              <a:t>Transaction number</a:t>
            </a:r>
            <a:endParaRPr lang="en-US" sz="1050" dirty="0"/>
          </a:p>
        </p:txBody>
      </p:sp>
      <p:sp>
        <p:nvSpPr>
          <p:cNvPr id="8" name="Shape 6"/>
          <p:cNvSpPr/>
          <p:nvPr/>
        </p:nvSpPr>
        <p:spPr>
          <a:xfrm>
            <a:off x="3456432" y="2240280"/>
            <a:ext cx="2743200" cy="1005840"/>
          </a:xfrm>
          <a:prstGeom prst="roundRect">
            <a:avLst>
              <a:gd name="adj" fmla="val 7273"/>
            </a:avLst>
          </a:prstGeom>
          <a:solidFill>
            <a:srgbClr val="FFFFFF"/>
          </a:solidFill>
          <a:ln/>
          <a:effectLst>
            <a:outerShdw sx="100000" sy="100000" kx="0" ky="0" algn="bl" rotWithShape="0" blurRad="101600" dist="38100" dir="2700000">
              <a:srgbClr val="1A1A2E">
                <a:alpha val="12000"/>
              </a:srgbClr>
            </a:outerShdw>
          </a:effectLst>
        </p:spPr>
      </p:sp>
      <p:sp>
        <p:nvSpPr>
          <p:cNvPr id="9" name="Text 7"/>
          <p:cNvSpPr/>
          <p:nvPr/>
        </p:nvSpPr>
        <p:spPr>
          <a:xfrm>
            <a:off x="3621024" y="2359152"/>
            <a:ext cx="2414016" cy="320040"/>
          </a:xfrm>
          <a:prstGeom prst="rect">
            <a:avLst/>
          </a:prstGeom>
          <a:noFill/>
          <a:ln/>
        </p:spPr>
        <p:txBody>
          <a:bodyPr wrap="square" lIns="0" tIns="0" rIns="0" bIns="0" rtlCol="0" anchor="ctr"/>
          <a:lstStyle/>
          <a:p>
            <a:pPr indent="0" marL="0">
              <a:buNone/>
            </a:pPr>
            <a:r>
              <a:rPr lang="en-US" sz="1350" b="1" dirty="0">
                <a:solidFill>
                  <a:srgbClr val="2F3C7E"/>
                </a:solidFill>
                <a:latin typeface="Calibri" pitchFamily="34" charset="0"/>
                <a:ea typeface="Calibri" pitchFamily="34" charset="-122"/>
                <a:cs typeface="Calibri" pitchFamily="34" charset="-120"/>
              </a:rPr>
              <a:t>StockCode</a:t>
            </a:r>
            <a:endParaRPr lang="en-US" sz="1350" dirty="0"/>
          </a:p>
        </p:txBody>
      </p:sp>
      <p:sp>
        <p:nvSpPr>
          <p:cNvPr id="10" name="Text 8"/>
          <p:cNvSpPr/>
          <p:nvPr/>
        </p:nvSpPr>
        <p:spPr>
          <a:xfrm>
            <a:off x="3621024" y="2697480"/>
            <a:ext cx="2414016" cy="502920"/>
          </a:xfrm>
          <a:prstGeom prst="rect">
            <a:avLst/>
          </a:prstGeom>
          <a:noFill/>
          <a:ln/>
        </p:spPr>
        <p:txBody>
          <a:bodyPr wrap="square" lIns="0" tIns="0" rIns="0" bIns="0" rtlCol="0" anchor="ctr"/>
          <a:lstStyle/>
          <a:p>
            <a:pPr indent="0" marL="0">
              <a:buNone/>
            </a:pPr>
            <a:r>
              <a:rPr lang="en-US" sz="1050" dirty="0">
                <a:solidFill>
                  <a:srgbClr val="6B7186"/>
                </a:solidFill>
                <a:latin typeface="Calibri" pitchFamily="34" charset="0"/>
                <a:ea typeface="Calibri" pitchFamily="34" charset="-122"/>
                <a:cs typeface="Calibri" pitchFamily="34" charset="-120"/>
              </a:rPr>
              <a:t>Unique product / item code</a:t>
            </a:r>
            <a:endParaRPr lang="en-US" sz="1050" dirty="0"/>
          </a:p>
        </p:txBody>
      </p:sp>
      <p:sp>
        <p:nvSpPr>
          <p:cNvPr id="11" name="Shape 9"/>
          <p:cNvSpPr/>
          <p:nvPr/>
        </p:nvSpPr>
        <p:spPr>
          <a:xfrm>
            <a:off x="6364224" y="2240280"/>
            <a:ext cx="2743200" cy="1005840"/>
          </a:xfrm>
          <a:prstGeom prst="roundRect">
            <a:avLst>
              <a:gd name="adj" fmla="val 7273"/>
            </a:avLst>
          </a:prstGeom>
          <a:solidFill>
            <a:srgbClr val="FFFFFF"/>
          </a:solidFill>
          <a:ln/>
          <a:effectLst>
            <a:outerShdw sx="100000" sy="100000" kx="0" ky="0" algn="bl" rotWithShape="0" blurRad="101600" dist="38100" dir="2700000">
              <a:srgbClr val="1A1A2E">
                <a:alpha val="12000"/>
              </a:srgbClr>
            </a:outerShdw>
          </a:effectLst>
        </p:spPr>
      </p:sp>
      <p:sp>
        <p:nvSpPr>
          <p:cNvPr id="12" name="Text 10"/>
          <p:cNvSpPr/>
          <p:nvPr/>
        </p:nvSpPr>
        <p:spPr>
          <a:xfrm>
            <a:off x="6528816" y="2359152"/>
            <a:ext cx="2414016" cy="320040"/>
          </a:xfrm>
          <a:prstGeom prst="rect">
            <a:avLst/>
          </a:prstGeom>
          <a:noFill/>
          <a:ln/>
        </p:spPr>
        <p:txBody>
          <a:bodyPr wrap="square" lIns="0" tIns="0" rIns="0" bIns="0" rtlCol="0" anchor="ctr"/>
          <a:lstStyle/>
          <a:p>
            <a:pPr indent="0" marL="0">
              <a:buNone/>
            </a:pPr>
            <a:r>
              <a:rPr lang="en-US" sz="1350" b="1" dirty="0">
                <a:solidFill>
                  <a:srgbClr val="2F3C7E"/>
                </a:solidFill>
                <a:latin typeface="Calibri" pitchFamily="34" charset="0"/>
                <a:ea typeface="Calibri" pitchFamily="34" charset="-122"/>
                <a:cs typeface="Calibri" pitchFamily="34" charset="-120"/>
              </a:rPr>
              <a:t>Description</a:t>
            </a:r>
            <a:endParaRPr lang="en-US" sz="1350" dirty="0"/>
          </a:p>
        </p:txBody>
      </p:sp>
      <p:sp>
        <p:nvSpPr>
          <p:cNvPr id="13" name="Text 11"/>
          <p:cNvSpPr/>
          <p:nvPr/>
        </p:nvSpPr>
        <p:spPr>
          <a:xfrm>
            <a:off x="6528816" y="2697480"/>
            <a:ext cx="2414016" cy="502920"/>
          </a:xfrm>
          <a:prstGeom prst="rect">
            <a:avLst/>
          </a:prstGeom>
          <a:noFill/>
          <a:ln/>
        </p:spPr>
        <p:txBody>
          <a:bodyPr wrap="square" lIns="0" tIns="0" rIns="0" bIns="0" rtlCol="0" anchor="ctr"/>
          <a:lstStyle/>
          <a:p>
            <a:pPr indent="0" marL="0">
              <a:buNone/>
            </a:pPr>
            <a:r>
              <a:rPr lang="en-US" sz="1050" dirty="0">
                <a:solidFill>
                  <a:srgbClr val="6B7186"/>
                </a:solidFill>
                <a:latin typeface="Calibri" pitchFamily="34" charset="0"/>
                <a:ea typeface="Calibri" pitchFamily="34" charset="-122"/>
                <a:cs typeface="Calibri" pitchFamily="34" charset="-120"/>
              </a:rPr>
              <a:t>Name of the product</a:t>
            </a:r>
            <a:endParaRPr lang="en-US" sz="1050" dirty="0"/>
          </a:p>
        </p:txBody>
      </p:sp>
      <p:sp>
        <p:nvSpPr>
          <p:cNvPr id="14" name="Shape 12"/>
          <p:cNvSpPr/>
          <p:nvPr/>
        </p:nvSpPr>
        <p:spPr>
          <a:xfrm>
            <a:off x="9272016" y="2240280"/>
            <a:ext cx="2743200" cy="1005840"/>
          </a:xfrm>
          <a:prstGeom prst="roundRect">
            <a:avLst>
              <a:gd name="adj" fmla="val 7273"/>
            </a:avLst>
          </a:prstGeom>
          <a:solidFill>
            <a:srgbClr val="FFFFFF"/>
          </a:solidFill>
          <a:ln/>
          <a:effectLst>
            <a:outerShdw sx="100000" sy="100000" kx="0" ky="0" algn="bl" rotWithShape="0" blurRad="101600" dist="38100" dir="2700000">
              <a:srgbClr val="1A1A2E">
                <a:alpha val="12000"/>
              </a:srgbClr>
            </a:outerShdw>
          </a:effectLst>
        </p:spPr>
      </p:sp>
      <p:sp>
        <p:nvSpPr>
          <p:cNvPr id="15" name="Text 13"/>
          <p:cNvSpPr/>
          <p:nvPr/>
        </p:nvSpPr>
        <p:spPr>
          <a:xfrm>
            <a:off x="9436608" y="2359152"/>
            <a:ext cx="2414016" cy="320040"/>
          </a:xfrm>
          <a:prstGeom prst="rect">
            <a:avLst/>
          </a:prstGeom>
          <a:noFill/>
          <a:ln/>
        </p:spPr>
        <p:txBody>
          <a:bodyPr wrap="square" lIns="0" tIns="0" rIns="0" bIns="0" rtlCol="0" anchor="ctr"/>
          <a:lstStyle/>
          <a:p>
            <a:pPr indent="0" marL="0">
              <a:buNone/>
            </a:pPr>
            <a:r>
              <a:rPr lang="en-US" sz="1350" b="1" dirty="0">
                <a:solidFill>
                  <a:srgbClr val="2F3C7E"/>
                </a:solidFill>
                <a:latin typeface="Calibri" pitchFamily="34" charset="0"/>
                <a:ea typeface="Calibri" pitchFamily="34" charset="-122"/>
                <a:cs typeface="Calibri" pitchFamily="34" charset="-120"/>
              </a:rPr>
              <a:t>Quantity</a:t>
            </a:r>
            <a:endParaRPr lang="en-US" sz="1350" dirty="0"/>
          </a:p>
        </p:txBody>
      </p:sp>
      <p:sp>
        <p:nvSpPr>
          <p:cNvPr id="16" name="Text 14"/>
          <p:cNvSpPr/>
          <p:nvPr/>
        </p:nvSpPr>
        <p:spPr>
          <a:xfrm>
            <a:off x="9436608" y="2697480"/>
            <a:ext cx="2414016" cy="502920"/>
          </a:xfrm>
          <a:prstGeom prst="rect">
            <a:avLst/>
          </a:prstGeom>
          <a:noFill/>
          <a:ln/>
        </p:spPr>
        <p:txBody>
          <a:bodyPr wrap="square" lIns="0" tIns="0" rIns="0" bIns="0" rtlCol="0" anchor="ctr"/>
          <a:lstStyle/>
          <a:p>
            <a:pPr indent="0" marL="0">
              <a:buNone/>
            </a:pPr>
            <a:r>
              <a:rPr lang="en-US" sz="1050" dirty="0">
                <a:solidFill>
                  <a:srgbClr val="6B7186"/>
                </a:solidFill>
                <a:latin typeface="Calibri" pitchFamily="34" charset="0"/>
                <a:ea typeface="Calibri" pitchFamily="34" charset="-122"/>
                <a:cs typeface="Calibri" pitchFamily="34" charset="-120"/>
              </a:rPr>
              <a:t>Number of products purchased</a:t>
            </a:r>
            <a:endParaRPr lang="en-US" sz="1050" dirty="0"/>
          </a:p>
        </p:txBody>
      </p:sp>
      <p:sp>
        <p:nvSpPr>
          <p:cNvPr id="17" name="Shape 15"/>
          <p:cNvSpPr/>
          <p:nvPr/>
        </p:nvSpPr>
        <p:spPr>
          <a:xfrm>
            <a:off x="548640" y="3410712"/>
            <a:ext cx="2743200" cy="1005840"/>
          </a:xfrm>
          <a:prstGeom prst="roundRect">
            <a:avLst>
              <a:gd name="adj" fmla="val 7273"/>
            </a:avLst>
          </a:prstGeom>
          <a:solidFill>
            <a:srgbClr val="FFFFFF"/>
          </a:solidFill>
          <a:ln/>
          <a:effectLst>
            <a:outerShdw sx="100000" sy="100000" kx="0" ky="0" algn="bl" rotWithShape="0" blurRad="101600" dist="38100" dir="2700000">
              <a:srgbClr val="1A1A2E">
                <a:alpha val="12000"/>
              </a:srgbClr>
            </a:outerShdw>
          </a:effectLst>
        </p:spPr>
      </p:sp>
      <p:sp>
        <p:nvSpPr>
          <p:cNvPr id="18" name="Text 16"/>
          <p:cNvSpPr/>
          <p:nvPr/>
        </p:nvSpPr>
        <p:spPr>
          <a:xfrm>
            <a:off x="713232" y="3529584"/>
            <a:ext cx="2414016" cy="320040"/>
          </a:xfrm>
          <a:prstGeom prst="rect">
            <a:avLst/>
          </a:prstGeom>
          <a:noFill/>
          <a:ln/>
        </p:spPr>
        <p:txBody>
          <a:bodyPr wrap="square" lIns="0" tIns="0" rIns="0" bIns="0" rtlCol="0" anchor="ctr"/>
          <a:lstStyle/>
          <a:p>
            <a:pPr indent="0" marL="0">
              <a:buNone/>
            </a:pPr>
            <a:r>
              <a:rPr lang="en-US" sz="1350" b="1" dirty="0">
                <a:solidFill>
                  <a:srgbClr val="2F3C7E"/>
                </a:solidFill>
                <a:latin typeface="Calibri" pitchFamily="34" charset="0"/>
                <a:ea typeface="Calibri" pitchFamily="34" charset="-122"/>
                <a:cs typeface="Calibri" pitchFamily="34" charset="-120"/>
              </a:rPr>
              <a:t>InvoiceDate</a:t>
            </a:r>
            <a:endParaRPr lang="en-US" sz="1350" dirty="0"/>
          </a:p>
        </p:txBody>
      </p:sp>
      <p:sp>
        <p:nvSpPr>
          <p:cNvPr id="19" name="Text 17"/>
          <p:cNvSpPr/>
          <p:nvPr/>
        </p:nvSpPr>
        <p:spPr>
          <a:xfrm>
            <a:off x="713232" y="3867912"/>
            <a:ext cx="2414016" cy="502920"/>
          </a:xfrm>
          <a:prstGeom prst="rect">
            <a:avLst/>
          </a:prstGeom>
          <a:noFill/>
          <a:ln/>
        </p:spPr>
        <p:txBody>
          <a:bodyPr wrap="square" lIns="0" tIns="0" rIns="0" bIns="0" rtlCol="0" anchor="ctr"/>
          <a:lstStyle/>
          <a:p>
            <a:pPr indent="0" marL="0">
              <a:buNone/>
            </a:pPr>
            <a:r>
              <a:rPr lang="en-US" sz="1050" dirty="0">
                <a:solidFill>
                  <a:srgbClr val="6B7186"/>
                </a:solidFill>
                <a:latin typeface="Calibri" pitchFamily="34" charset="0"/>
                <a:ea typeface="Calibri" pitchFamily="34" charset="-122"/>
                <a:cs typeface="Calibri" pitchFamily="34" charset="-120"/>
              </a:rPr>
              <a:t>Date and time of transaction</a:t>
            </a:r>
            <a:endParaRPr lang="en-US" sz="1050" dirty="0"/>
          </a:p>
        </p:txBody>
      </p:sp>
      <p:sp>
        <p:nvSpPr>
          <p:cNvPr id="20" name="Shape 18"/>
          <p:cNvSpPr/>
          <p:nvPr/>
        </p:nvSpPr>
        <p:spPr>
          <a:xfrm>
            <a:off x="3456432" y="3410712"/>
            <a:ext cx="2743200" cy="1005840"/>
          </a:xfrm>
          <a:prstGeom prst="roundRect">
            <a:avLst>
              <a:gd name="adj" fmla="val 7273"/>
            </a:avLst>
          </a:prstGeom>
          <a:solidFill>
            <a:srgbClr val="FFFFFF"/>
          </a:solidFill>
          <a:ln/>
          <a:effectLst>
            <a:outerShdw sx="100000" sy="100000" kx="0" ky="0" algn="bl" rotWithShape="0" blurRad="101600" dist="38100" dir="2700000">
              <a:srgbClr val="1A1A2E">
                <a:alpha val="12000"/>
              </a:srgbClr>
            </a:outerShdw>
          </a:effectLst>
        </p:spPr>
      </p:sp>
      <p:sp>
        <p:nvSpPr>
          <p:cNvPr id="21" name="Text 19"/>
          <p:cNvSpPr/>
          <p:nvPr/>
        </p:nvSpPr>
        <p:spPr>
          <a:xfrm>
            <a:off x="3621024" y="3529584"/>
            <a:ext cx="2414016" cy="320040"/>
          </a:xfrm>
          <a:prstGeom prst="rect">
            <a:avLst/>
          </a:prstGeom>
          <a:noFill/>
          <a:ln/>
        </p:spPr>
        <p:txBody>
          <a:bodyPr wrap="square" lIns="0" tIns="0" rIns="0" bIns="0" rtlCol="0" anchor="ctr"/>
          <a:lstStyle/>
          <a:p>
            <a:pPr indent="0" marL="0">
              <a:buNone/>
            </a:pPr>
            <a:r>
              <a:rPr lang="en-US" sz="1350" b="1" dirty="0">
                <a:solidFill>
                  <a:srgbClr val="2F3C7E"/>
                </a:solidFill>
                <a:latin typeface="Calibri" pitchFamily="34" charset="0"/>
                <a:ea typeface="Calibri" pitchFamily="34" charset="-122"/>
                <a:cs typeface="Calibri" pitchFamily="34" charset="-120"/>
              </a:rPr>
              <a:t>UnitPrice</a:t>
            </a:r>
            <a:endParaRPr lang="en-US" sz="1350" dirty="0"/>
          </a:p>
        </p:txBody>
      </p:sp>
      <p:sp>
        <p:nvSpPr>
          <p:cNvPr id="22" name="Text 20"/>
          <p:cNvSpPr/>
          <p:nvPr/>
        </p:nvSpPr>
        <p:spPr>
          <a:xfrm>
            <a:off x="3621024" y="3867912"/>
            <a:ext cx="2414016" cy="502920"/>
          </a:xfrm>
          <a:prstGeom prst="rect">
            <a:avLst/>
          </a:prstGeom>
          <a:noFill/>
          <a:ln/>
        </p:spPr>
        <p:txBody>
          <a:bodyPr wrap="square" lIns="0" tIns="0" rIns="0" bIns="0" rtlCol="0" anchor="ctr"/>
          <a:lstStyle/>
          <a:p>
            <a:pPr indent="0" marL="0">
              <a:buNone/>
            </a:pPr>
            <a:r>
              <a:rPr lang="en-US" sz="1050" dirty="0">
                <a:solidFill>
                  <a:srgbClr val="6B7186"/>
                </a:solidFill>
                <a:latin typeface="Calibri" pitchFamily="34" charset="0"/>
                <a:ea typeface="Calibri" pitchFamily="34" charset="-122"/>
                <a:cs typeface="Calibri" pitchFamily="34" charset="-120"/>
              </a:rPr>
              <a:t>Price per product</a:t>
            </a:r>
            <a:endParaRPr lang="en-US" sz="1050" dirty="0"/>
          </a:p>
        </p:txBody>
      </p:sp>
      <p:sp>
        <p:nvSpPr>
          <p:cNvPr id="23" name="Shape 21"/>
          <p:cNvSpPr/>
          <p:nvPr/>
        </p:nvSpPr>
        <p:spPr>
          <a:xfrm>
            <a:off x="6364224" y="3410712"/>
            <a:ext cx="2743200" cy="1005840"/>
          </a:xfrm>
          <a:prstGeom prst="roundRect">
            <a:avLst>
              <a:gd name="adj" fmla="val 7273"/>
            </a:avLst>
          </a:prstGeom>
          <a:solidFill>
            <a:srgbClr val="FFFFFF"/>
          </a:solidFill>
          <a:ln/>
          <a:effectLst>
            <a:outerShdw sx="100000" sy="100000" kx="0" ky="0" algn="bl" rotWithShape="0" blurRad="101600" dist="38100" dir="2700000">
              <a:srgbClr val="1A1A2E">
                <a:alpha val="12000"/>
              </a:srgbClr>
            </a:outerShdw>
          </a:effectLst>
        </p:spPr>
      </p:sp>
      <p:sp>
        <p:nvSpPr>
          <p:cNvPr id="24" name="Text 22"/>
          <p:cNvSpPr/>
          <p:nvPr/>
        </p:nvSpPr>
        <p:spPr>
          <a:xfrm>
            <a:off x="6528816" y="3529584"/>
            <a:ext cx="2414016" cy="320040"/>
          </a:xfrm>
          <a:prstGeom prst="rect">
            <a:avLst/>
          </a:prstGeom>
          <a:noFill/>
          <a:ln/>
        </p:spPr>
        <p:txBody>
          <a:bodyPr wrap="square" lIns="0" tIns="0" rIns="0" bIns="0" rtlCol="0" anchor="ctr"/>
          <a:lstStyle/>
          <a:p>
            <a:pPr indent="0" marL="0">
              <a:buNone/>
            </a:pPr>
            <a:r>
              <a:rPr lang="en-US" sz="1350" b="1" dirty="0">
                <a:solidFill>
                  <a:srgbClr val="2F3C7E"/>
                </a:solidFill>
                <a:latin typeface="Calibri" pitchFamily="34" charset="0"/>
                <a:ea typeface="Calibri" pitchFamily="34" charset="-122"/>
                <a:cs typeface="Calibri" pitchFamily="34" charset="-120"/>
              </a:rPr>
              <a:t>CustomerID</a:t>
            </a:r>
            <a:endParaRPr lang="en-US" sz="1350" dirty="0"/>
          </a:p>
        </p:txBody>
      </p:sp>
      <p:sp>
        <p:nvSpPr>
          <p:cNvPr id="25" name="Text 23"/>
          <p:cNvSpPr/>
          <p:nvPr/>
        </p:nvSpPr>
        <p:spPr>
          <a:xfrm>
            <a:off x="6528816" y="3867912"/>
            <a:ext cx="2414016" cy="502920"/>
          </a:xfrm>
          <a:prstGeom prst="rect">
            <a:avLst/>
          </a:prstGeom>
          <a:noFill/>
          <a:ln/>
        </p:spPr>
        <p:txBody>
          <a:bodyPr wrap="square" lIns="0" tIns="0" rIns="0" bIns="0" rtlCol="0" anchor="ctr"/>
          <a:lstStyle/>
          <a:p>
            <a:pPr indent="0" marL="0">
              <a:buNone/>
            </a:pPr>
            <a:r>
              <a:rPr lang="en-US" sz="1050" dirty="0">
                <a:solidFill>
                  <a:srgbClr val="6B7186"/>
                </a:solidFill>
                <a:latin typeface="Calibri" pitchFamily="34" charset="0"/>
                <a:ea typeface="Calibri" pitchFamily="34" charset="-122"/>
                <a:cs typeface="Calibri" pitchFamily="34" charset="-120"/>
              </a:rPr>
              <a:t>Unique identifier for each customer</a:t>
            </a:r>
            <a:endParaRPr lang="en-US" sz="1050" dirty="0"/>
          </a:p>
        </p:txBody>
      </p:sp>
      <p:sp>
        <p:nvSpPr>
          <p:cNvPr id="26" name="Shape 24"/>
          <p:cNvSpPr/>
          <p:nvPr/>
        </p:nvSpPr>
        <p:spPr>
          <a:xfrm>
            <a:off x="9272016" y="3410712"/>
            <a:ext cx="2743200" cy="1005840"/>
          </a:xfrm>
          <a:prstGeom prst="roundRect">
            <a:avLst>
              <a:gd name="adj" fmla="val 7273"/>
            </a:avLst>
          </a:prstGeom>
          <a:solidFill>
            <a:srgbClr val="FFFFFF"/>
          </a:solidFill>
          <a:ln/>
          <a:effectLst>
            <a:outerShdw sx="100000" sy="100000" kx="0" ky="0" algn="bl" rotWithShape="0" blurRad="101600" dist="38100" dir="2700000">
              <a:srgbClr val="1A1A2E">
                <a:alpha val="12000"/>
              </a:srgbClr>
            </a:outerShdw>
          </a:effectLst>
        </p:spPr>
      </p:sp>
      <p:sp>
        <p:nvSpPr>
          <p:cNvPr id="27" name="Text 25"/>
          <p:cNvSpPr/>
          <p:nvPr/>
        </p:nvSpPr>
        <p:spPr>
          <a:xfrm>
            <a:off x="9436608" y="3529584"/>
            <a:ext cx="2414016" cy="320040"/>
          </a:xfrm>
          <a:prstGeom prst="rect">
            <a:avLst/>
          </a:prstGeom>
          <a:noFill/>
          <a:ln/>
        </p:spPr>
        <p:txBody>
          <a:bodyPr wrap="square" lIns="0" tIns="0" rIns="0" bIns="0" rtlCol="0" anchor="ctr"/>
          <a:lstStyle/>
          <a:p>
            <a:pPr indent="0" marL="0">
              <a:buNone/>
            </a:pPr>
            <a:r>
              <a:rPr lang="en-US" sz="1350" b="1" dirty="0">
                <a:solidFill>
                  <a:srgbClr val="2F3C7E"/>
                </a:solidFill>
                <a:latin typeface="Calibri" pitchFamily="34" charset="0"/>
                <a:ea typeface="Calibri" pitchFamily="34" charset="-122"/>
                <a:cs typeface="Calibri" pitchFamily="34" charset="-120"/>
              </a:rPr>
              <a:t>Country</a:t>
            </a:r>
            <a:endParaRPr lang="en-US" sz="1350" dirty="0"/>
          </a:p>
        </p:txBody>
      </p:sp>
      <p:sp>
        <p:nvSpPr>
          <p:cNvPr id="28" name="Text 26"/>
          <p:cNvSpPr/>
          <p:nvPr/>
        </p:nvSpPr>
        <p:spPr>
          <a:xfrm>
            <a:off x="9436608" y="3867912"/>
            <a:ext cx="2414016" cy="502920"/>
          </a:xfrm>
          <a:prstGeom prst="rect">
            <a:avLst/>
          </a:prstGeom>
          <a:noFill/>
          <a:ln/>
        </p:spPr>
        <p:txBody>
          <a:bodyPr wrap="square" lIns="0" tIns="0" rIns="0" bIns="0" rtlCol="0" anchor="ctr"/>
          <a:lstStyle/>
          <a:p>
            <a:pPr indent="0" marL="0">
              <a:buNone/>
            </a:pPr>
            <a:r>
              <a:rPr lang="en-US" sz="1050" dirty="0">
                <a:solidFill>
                  <a:srgbClr val="6B7186"/>
                </a:solidFill>
                <a:latin typeface="Calibri" pitchFamily="34" charset="0"/>
                <a:ea typeface="Calibri" pitchFamily="34" charset="-122"/>
                <a:cs typeface="Calibri" pitchFamily="34" charset="-120"/>
              </a:rPr>
              <a:t>Country where the customer is based</a:t>
            </a:r>
            <a:endParaRPr lang="en-US" sz="1050" dirty="0"/>
          </a:p>
        </p:txBody>
      </p:sp>
      <p:sp>
        <p:nvSpPr>
          <p:cNvPr id="29" name="Text 27"/>
          <p:cNvSpPr/>
          <p:nvPr/>
        </p:nvSpPr>
        <p:spPr>
          <a:xfrm>
            <a:off x="457200" y="6473952"/>
            <a:ext cx="3657600" cy="274320"/>
          </a:xfrm>
          <a:prstGeom prst="rect">
            <a:avLst/>
          </a:prstGeom>
          <a:noFill/>
          <a:ln/>
        </p:spPr>
        <p:txBody>
          <a:bodyPr wrap="square" lIns="0" tIns="0" rIns="0" bIns="0" rtlCol="0" anchor="ctr"/>
          <a:lstStyle/>
          <a:p>
            <a:pPr indent="0" marL="0">
              <a:buNone/>
            </a:pPr>
            <a:r>
              <a:rPr lang="en-US" sz="900" spc="200" kern="0" dirty="0">
                <a:solidFill>
                  <a:srgbClr val="6B7186"/>
                </a:solidFill>
                <a:latin typeface="Calibri" pitchFamily="34" charset="0"/>
                <a:ea typeface="Calibri" pitchFamily="34" charset="-122"/>
                <a:cs typeface="Calibri" pitchFamily="34" charset="-120"/>
              </a:rPr>
              <a:t>SHOPPER SPECTRUM</a:t>
            </a:r>
            <a:endParaRPr lang="en-US" sz="900" dirty="0"/>
          </a:p>
        </p:txBody>
      </p:sp>
      <p:sp>
        <p:nvSpPr>
          <p:cNvPr id="30" name="Text 28"/>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718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lIns="0" tIns="0" rIns="0" bIns="0"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03  PROJECT WORKFLOW</a:t>
            </a:r>
            <a:endParaRPr lang="en-US" sz="1200" dirty="0"/>
          </a:p>
        </p:txBody>
      </p:sp>
      <p:sp>
        <p:nvSpPr>
          <p:cNvPr id="3" name="Text 1"/>
          <p:cNvSpPr/>
          <p:nvPr/>
        </p:nvSpPr>
        <p:spPr>
          <a:xfrm>
            <a:off x="548640" y="777240"/>
            <a:ext cx="9144000" cy="640080"/>
          </a:xfrm>
          <a:prstGeom prst="rect">
            <a:avLst/>
          </a:prstGeom>
          <a:noFill/>
          <a:ln/>
        </p:spPr>
        <p:txBody>
          <a:bodyPr wrap="square" lIns="0" tIns="0" rIns="0" bIns="0" rtlCol="0" anchor="ctr"/>
          <a:lstStyle/>
          <a:p>
            <a:pPr indent="0" marL="0">
              <a:buNone/>
            </a:pPr>
            <a:r>
              <a:rPr lang="en-US" sz="3000" b="1" dirty="0">
                <a:solidFill>
                  <a:srgbClr val="24263B"/>
                </a:solidFill>
                <a:latin typeface="Cambria" pitchFamily="34" charset="0"/>
                <a:ea typeface="Cambria" pitchFamily="34" charset="-122"/>
                <a:cs typeface="Cambria" pitchFamily="34" charset="-120"/>
              </a:rPr>
              <a:t>End-to-End Analytics Pipeline</a:t>
            </a:r>
            <a:endParaRPr lang="en-US" sz="3000" dirty="0"/>
          </a:p>
        </p:txBody>
      </p:sp>
      <p:sp>
        <p:nvSpPr>
          <p:cNvPr id="4" name="Shape 2"/>
          <p:cNvSpPr/>
          <p:nvPr/>
        </p:nvSpPr>
        <p:spPr>
          <a:xfrm>
            <a:off x="1289304" y="2857500"/>
            <a:ext cx="9765792" cy="0"/>
          </a:xfrm>
          <a:prstGeom prst="line">
            <a:avLst/>
          </a:prstGeom>
          <a:noFill/>
          <a:ln w="28575">
            <a:solidFill>
              <a:srgbClr val="D8DCEC"/>
            </a:solidFill>
            <a:prstDash val="solid"/>
          </a:ln>
        </p:spPr>
      </p:sp>
      <p:sp>
        <p:nvSpPr>
          <p:cNvPr id="5" name="Shape 3"/>
          <p:cNvSpPr/>
          <p:nvPr/>
        </p:nvSpPr>
        <p:spPr>
          <a:xfrm>
            <a:off x="969264" y="2148840"/>
            <a:ext cx="640080" cy="640080"/>
          </a:xfrm>
          <a:prstGeom prst="ellipse">
            <a:avLst/>
          </a:prstGeom>
          <a:solidFill>
            <a:srgbClr val="2F3C7E"/>
          </a:solidFill>
          <a:ln/>
          <a:effectLst>
            <a:outerShdw sx="100000" sy="100000" kx="0" ky="0" algn="bl" rotWithShape="0" blurRad="101600" dist="38100" dir="2700000">
              <a:srgbClr val="1A1A2E">
                <a:alpha val="12000"/>
              </a:srgbClr>
            </a:outerShdw>
          </a:effectLst>
        </p:spPr>
      </p:sp>
      <p:pic>
        <p:nvPicPr>
          <p:cNvPr id="6" name="Image 0" descr="/home/claude/proj/icons/db_navy.png">    </p:cNvPr>
          <p:cNvPicPr>
            <a:picLocks noChangeAspect="1"/>
          </p:cNvPicPr>
          <p:nvPr/>
        </p:nvPicPr>
        <p:blipFill>
          <a:blip r:embed="rId1"/>
          <a:stretch>
            <a:fillRect/>
          </a:stretch>
        </p:blipFill>
        <p:spPr>
          <a:xfrm>
            <a:off x="1148486" y="2328062"/>
            <a:ext cx="281635" cy="281635"/>
          </a:xfrm>
          <a:prstGeom prst="rect">
            <a:avLst/>
          </a:prstGeom>
        </p:spPr>
      </p:pic>
      <p:sp>
        <p:nvSpPr>
          <p:cNvPr id="7" name="Text 4"/>
          <p:cNvSpPr/>
          <p:nvPr/>
        </p:nvSpPr>
        <p:spPr>
          <a:xfrm>
            <a:off x="969264" y="1856232"/>
            <a:ext cx="640080" cy="274320"/>
          </a:xfrm>
          <a:prstGeom prst="rect">
            <a:avLst/>
          </a:prstGeom>
          <a:noFill/>
          <a:ln/>
        </p:spPr>
        <p:txBody>
          <a:bodyPr wrap="square" lIns="0" tIns="0" rIns="0" bIns="0" rtlCol="0" anchor="ctr"/>
          <a:lstStyle/>
          <a:p>
            <a:pPr algn="ctr" indent="0" marL="0">
              <a:buNone/>
            </a:pPr>
            <a:r>
              <a:rPr lang="en-US" sz="1000" b="1" dirty="0">
                <a:solidFill>
                  <a:srgbClr val="6B7186"/>
                </a:solidFill>
                <a:latin typeface="Calibri" pitchFamily="34" charset="0"/>
                <a:ea typeface="Calibri" pitchFamily="34" charset="-122"/>
                <a:cs typeface="Calibri" pitchFamily="34" charset="-120"/>
              </a:rPr>
              <a:t>1</a:t>
            </a:r>
            <a:endParaRPr lang="en-US" sz="1000" dirty="0"/>
          </a:p>
        </p:txBody>
      </p:sp>
      <p:sp>
        <p:nvSpPr>
          <p:cNvPr id="8" name="Text 5"/>
          <p:cNvSpPr/>
          <p:nvPr/>
        </p:nvSpPr>
        <p:spPr>
          <a:xfrm>
            <a:off x="411480" y="2926080"/>
            <a:ext cx="1755648" cy="365760"/>
          </a:xfrm>
          <a:prstGeom prst="rect">
            <a:avLst/>
          </a:prstGeom>
          <a:noFill/>
          <a:ln/>
        </p:spPr>
        <p:txBody>
          <a:bodyPr wrap="square" lIns="0" tIns="0" rIns="0" bIns="0" rtlCol="0" anchor="ctr"/>
          <a:lstStyle/>
          <a:p>
            <a:pPr algn="ctr" indent="0" marL="0">
              <a:buNone/>
            </a:pPr>
            <a:r>
              <a:rPr lang="en-US" sz="1150" b="1" dirty="0">
                <a:solidFill>
                  <a:srgbClr val="24263B"/>
                </a:solidFill>
                <a:latin typeface="Calibri" pitchFamily="34" charset="0"/>
                <a:ea typeface="Calibri" pitchFamily="34" charset="-122"/>
                <a:cs typeface="Calibri" pitchFamily="34" charset="-120"/>
              </a:rPr>
              <a:t>Data Collection</a:t>
            </a:r>
            <a:endParaRPr lang="en-US" sz="1150" dirty="0"/>
          </a:p>
        </p:txBody>
      </p:sp>
      <p:sp>
        <p:nvSpPr>
          <p:cNvPr id="9" name="Text 6"/>
          <p:cNvSpPr/>
          <p:nvPr/>
        </p:nvSpPr>
        <p:spPr>
          <a:xfrm>
            <a:off x="365760" y="3264408"/>
            <a:ext cx="1847088" cy="777240"/>
          </a:xfrm>
          <a:prstGeom prst="rect">
            <a:avLst/>
          </a:prstGeom>
          <a:noFill/>
          <a:ln/>
        </p:spPr>
        <p:txBody>
          <a:bodyPr wrap="square" lIns="0" tIns="0" rIns="0" bIns="0" rtlCol="0" anchor="t"/>
          <a:lstStyle/>
          <a:p>
            <a:pPr algn="ctr" indent="0" marL="0">
              <a:buNone/>
            </a:pPr>
            <a:r>
              <a:rPr lang="en-US" sz="900" dirty="0">
                <a:solidFill>
                  <a:srgbClr val="6B7186"/>
                </a:solidFill>
                <a:latin typeface="Calibri" pitchFamily="34" charset="0"/>
                <a:ea typeface="Calibri" pitchFamily="34" charset="-122"/>
                <a:cs typeface="Calibri" pitchFamily="34" charset="-120"/>
              </a:rPr>
              <a:t>Load online retail transaction dataset</a:t>
            </a:r>
            <a:endParaRPr lang="en-US" sz="900" dirty="0"/>
          </a:p>
        </p:txBody>
      </p:sp>
      <p:sp>
        <p:nvSpPr>
          <p:cNvPr id="10" name="Shape 7"/>
          <p:cNvSpPr/>
          <p:nvPr/>
        </p:nvSpPr>
        <p:spPr>
          <a:xfrm>
            <a:off x="2596896" y="2148840"/>
            <a:ext cx="640080" cy="640080"/>
          </a:xfrm>
          <a:prstGeom prst="ellipse">
            <a:avLst/>
          </a:prstGeom>
          <a:solidFill>
            <a:srgbClr val="F96167"/>
          </a:solidFill>
          <a:ln/>
          <a:effectLst>
            <a:outerShdw sx="100000" sy="100000" kx="0" ky="0" algn="bl" rotWithShape="0" blurRad="101600" dist="38100" dir="2700000">
              <a:srgbClr val="1A1A2E">
                <a:alpha val="12000"/>
              </a:srgbClr>
            </a:outerShdw>
          </a:effectLst>
        </p:spPr>
      </p:sp>
      <p:pic>
        <p:nvPicPr>
          <p:cNvPr id="11" name="Image 1" descr="/home/claude/proj/icons/broom_w.png">    </p:cNvPr>
          <p:cNvPicPr>
            <a:picLocks noChangeAspect="1"/>
          </p:cNvPicPr>
          <p:nvPr/>
        </p:nvPicPr>
        <p:blipFill>
          <a:blip r:embed="rId2"/>
          <a:stretch>
            <a:fillRect/>
          </a:stretch>
        </p:blipFill>
        <p:spPr>
          <a:xfrm>
            <a:off x="2776118" y="2328062"/>
            <a:ext cx="281635" cy="281635"/>
          </a:xfrm>
          <a:prstGeom prst="rect">
            <a:avLst/>
          </a:prstGeom>
        </p:spPr>
      </p:pic>
      <p:sp>
        <p:nvSpPr>
          <p:cNvPr id="12" name="Text 8"/>
          <p:cNvSpPr/>
          <p:nvPr/>
        </p:nvSpPr>
        <p:spPr>
          <a:xfrm>
            <a:off x="2596896" y="1856232"/>
            <a:ext cx="640080" cy="274320"/>
          </a:xfrm>
          <a:prstGeom prst="rect">
            <a:avLst/>
          </a:prstGeom>
          <a:noFill/>
          <a:ln/>
        </p:spPr>
        <p:txBody>
          <a:bodyPr wrap="square" lIns="0" tIns="0" rIns="0" bIns="0" rtlCol="0" anchor="ctr"/>
          <a:lstStyle/>
          <a:p>
            <a:pPr algn="ctr" indent="0" marL="0">
              <a:buNone/>
            </a:pPr>
            <a:r>
              <a:rPr lang="en-US" sz="1000" b="1" dirty="0">
                <a:solidFill>
                  <a:srgbClr val="6B7186"/>
                </a:solidFill>
                <a:latin typeface="Calibri" pitchFamily="34" charset="0"/>
                <a:ea typeface="Calibri" pitchFamily="34" charset="-122"/>
                <a:cs typeface="Calibri" pitchFamily="34" charset="-120"/>
              </a:rPr>
              <a:t>2</a:t>
            </a:r>
            <a:endParaRPr lang="en-US" sz="1000" dirty="0"/>
          </a:p>
        </p:txBody>
      </p:sp>
      <p:sp>
        <p:nvSpPr>
          <p:cNvPr id="13" name="Text 9"/>
          <p:cNvSpPr/>
          <p:nvPr/>
        </p:nvSpPr>
        <p:spPr>
          <a:xfrm>
            <a:off x="2039112" y="2926080"/>
            <a:ext cx="1755648" cy="365760"/>
          </a:xfrm>
          <a:prstGeom prst="rect">
            <a:avLst/>
          </a:prstGeom>
          <a:noFill/>
          <a:ln/>
        </p:spPr>
        <p:txBody>
          <a:bodyPr wrap="square" lIns="0" tIns="0" rIns="0" bIns="0" rtlCol="0" anchor="ctr"/>
          <a:lstStyle/>
          <a:p>
            <a:pPr algn="ctr" indent="0" marL="0">
              <a:buNone/>
            </a:pPr>
            <a:r>
              <a:rPr lang="en-US" sz="1150" b="1" dirty="0">
                <a:solidFill>
                  <a:srgbClr val="24263B"/>
                </a:solidFill>
                <a:latin typeface="Calibri" pitchFamily="34" charset="0"/>
                <a:ea typeface="Calibri" pitchFamily="34" charset="-122"/>
                <a:cs typeface="Calibri" pitchFamily="34" charset="-120"/>
              </a:rPr>
              <a:t>Preprocessing</a:t>
            </a:r>
            <a:endParaRPr lang="en-US" sz="1150" dirty="0"/>
          </a:p>
        </p:txBody>
      </p:sp>
      <p:sp>
        <p:nvSpPr>
          <p:cNvPr id="14" name="Text 10"/>
          <p:cNvSpPr/>
          <p:nvPr/>
        </p:nvSpPr>
        <p:spPr>
          <a:xfrm>
            <a:off x="1993392" y="3264408"/>
            <a:ext cx="1847088" cy="777240"/>
          </a:xfrm>
          <a:prstGeom prst="rect">
            <a:avLst/>
          </a:prstGeom>
          <a:noFill/>
          <a:ln/>
        </p:spPr>
        <p:txBody>
          <a:bodyPr wrap="square" lIns="0" tIns="0" rIns="0" bIns="0" rtlCol="0" anchor="t"/>
          <a:lstStyle/>
          <a:p>
            <a:pPr algn="ctr" indent="0" marL="0">
              <a:buNone/>
            </a:pPr>
            <a:r>
              <a:rPr lang="en-US" sz="900" dirty="0">
                <a:solidFill>
                  <a:srgbClr val="6B7186"/>
                </a:solidFill>
                <a:latin typeface="Calibri" pitchFamily="34" charset="0"/>
                <a:ea typeface="Calibri" pitchFamily="34" charset="-122"/>
                <a:cs typeface="Calibri" pitchFamily="34" charset="-120"/>
              </a:rPr>
              <a:t>Clean nulls, cancellations &amp; invalid rows</a:t>
            </a:r>
            <a:endParaRPr lang="en-US" sz="900" dirty="0"/>
          </a:p>
        </p:txBody>
      </p:sp>
      <p:sp>
        <p:nvSpPr>
          <p:cNvPr id="15" name="Shape 11"/>
          <p:cNvSpPr/>
          <p:nvPr/>
        </p:nvSpPr>
        <p:spPr>
          <a:xfrm>
            <a:off x="4224528" y="2148840"/>
            <a:ext cx="640080" cy="640080"/>
          </a:xfrm>
          <a:prstGeom prst="ellipse">
            <a:avLst/>
          </a:prstGeom>
          <a:solidFill>
            <a:srgbClr val="2F3C7E"/>
          </a:solidFill>
          <a:ln/>
          <a:effectLst>
            <a:outerShdw sx="100000" sy="100000" kx="0" ky="0" algn="bl" rotWithShape="0" blurRad="101600" dist="38100" dir="2700000">
              <a:srgbClr val="1A1A2E">
                <a:alpha val="12000"/>
              </a:srgbClr>
            </a:outerShdw>
          </a:effectLst>
        </p:spPr>
      </p:sp>
      <p:pic>
        <p:nvPicPr>
          <p:cNvPr id="16" name="Image 2" descr="/home/claude/proj/icons/search_w.png">    </p:cNvPr>
          <p:cNvPicPr>
            <a:picLocks noChangeAspect="1"/>
          </p:cNvPicPr>
          <p:nvPr/>
        </p:nvPicPr>
        <p:blipFill>
          <a:blip r:embed="rId3"/>
          <a:stretch>
            <a:fillRect/>
          </a:stretch>
        </p:blipFill>
        <p:spPr>
          <a:xfrm>
            <a:off x="4403750" y="2328062"/>
            <a:ext cx="281635" cy="281635"/>
          </a:xfrm>
          <a:prstGeom prst="rect">
            <a:avLst/>
          </a:prstGeom>
        </p:spPr>
      </p:pic>
      <p:sp>
        <p:nvSpPr>
          <p:cNvPr id="17" name="Text 12"/>
          <p:cNvSpPr/>
          <p:nvPr/>
        </p:nvSpPr>
        <p:spPr>
          <a:xfrm>
            <a:off x="4224528" y="1856232"/>
            <a:ext cx="640080" cy="274320"/>
          </a:xfrm>
          <a:prstGeom prst="rect">
            <a:avLst/>
          </a:prstGeom>
          <a:noFill/>
          <a:ln/>
        </p:spPr>
        <p:txBody>
          <a:bodyPr wrap="square" lIns="0" tIns="0" rIns="0" bIns="0" rtlCol="0" anchor="ctr"/>
          <a:lstStyle/>
          <a:p>
            <a:pPr algn="ctr" indent="0" marL="0">
              <a:buNone/>
            </a:pPr>
            <a:r>
              <a:rPr lang="en-US" sz="1000" b="1" dirty="0">
                <a:solidFill>
                  <a:srgbClr val="6B7186"/>
                </a:solidFill>
                <a:latin typeface="Calibri" pitchFamily="34" charset="0"/>
                <a:ea typeface="Calibri" pitchFamily="34" charset="-122"/>
                <a:cs typeface="Calibri" pitchFamily="34" charset="-120"/>
              </a:rPr>
              <a:t>3</a:t>
            </a:r>
            <a:endParaRPr lang="en-US" sz="1000" dirty="0"/>
          </a:p>
        </p:txBody>
      </p:sp>
      <p:sp>
        <p:nvSpPr>
          <p:cNvPr id="18" name="Text 13"/>
          <p:cNvSpPr/>
          <p:nvPr/>
        </p:nvSpPr>
        <p:spPr>
          <a:xfrm>
            <a:off x="3666744" y="2926080"/>
            <a:ext cx="1755648" cy="365760"/>
          </a:xfrm>
          <a:prstGeom prst="rect">
            <a:avLst/>
          </a:prstGeom>
          <a:noFill/>
          <a:ln/>
        </p:spPr>
        <p:txBody>
          <a:bodyPr wrap="square" lIns="0" tIns="0" rIns="0" bIns="0" rtlCol="0" anchor="ctr"/>
          <a:lstStyle/>
          <a:p>
            <a:pPr algn="ctr" indent="0" marL="0">
              <a:buNone/>
            </a:pPr>
            <a:r>
              <a:rPr lang="en-US" sz="1150" b="1" dirty="0">
                <a:solidFill>
                  <a:srgbClr val="24263B"/>
                </a:solidFill>
                <a:latin typeface="Calibri" pitchFamily="34" charset="0"/>
                <a:ea typeface="Calibri" pitchFamily="34" charset="-122"/>
                <a:cs typeface="Calibri" pitchFamily="34" charset="-120"/>
              </a:rPr>
              <a:t>EDA</a:t>
            </a:r>
            <a:endParaRPr lang="en-US" sz="1150" dirty="0"/>
          </a:p>
        </p:txBody>
      </p:sp>
      <p:sp>
        <p:nvSpPr>
          <p:cNvPr id="19" name="Text 14"/>
          <p:cNvSpPr/>
          <p:nvPr/>
        </p:nvSpPr>
        <p:spPr>
          <a:xfrm>
            <a:off x="3621024" y="3264408"/>
            <a:ext cx="1847088" cy="777240"/>
          </a:xfrm>
          <a:prstGeom prst="rect">
            <a:avLst/>
          </a:prstGeom>
          <a:noFill/>
          <a:ln/>
        </p:spPr>
        <p:txBody>
          <a:bodyPr wrap="square" lIns="0" tIns="0" rIns="0" bIns="0" rtlCol="0" anchor="t"/>
          <a:lstStyle/>
          <a:p>
            <a:pPr algn="ctr" indent="0" marL="0">
              <a:buNone/>
            </a:pPr>
            <a:r>
              <a:rPr lang="en-US" sz="900" dirty="0">
                <a:solidFill>
                  <a:srgbClr val="6B7186"/>
                </a:solidFill>
                <a:latin typeface="Calibri" pitchFamily="34" charset="0"/>
                <a:ea typeface="Calibri" pitchFamily="34" charset="-122"/>
                <a:cs typeface="Calibri" pitchFamily="34" charset="-120"/>
              </a:rPr>
              <a:t>Explore trends, top products &amp; countries</a:t>
            </a:r>
            <a:endParaRPr lang="en-US" sz="900" dirty="0"/>
          </a:p>
        </p:txBody>
      </p:sp>
      <p:sp>
        <p:nvSpPr>
          <p:cNvPr id="20" name="Shape 15"/>
          <p:cNvSpPr/>
          <p:nvPr/>
        </p:nvSpPr>
        <p:spPr>
          <a:xfrm>
            <a:off x="5852160" y="2148840"/>
            <a:ext cx="640080" cy="640080"/>
          </a:xfrm>
          <a:prstGeom prst="ellipse">
            <a:avLst/>
          </a:prstGeom>
          <a:solidFill>
            <a:srgbClr val="F96167"/>
          </a:solidFill>
          <a:ln/>
          <a:effectLst>
            <a:outerShdw sx="100000" sy="100000" kx="0" ky="0" algn="bl" rotWithShape="0" blurRad="101600" dist="38100" dir="2700000">
              <a:srgbClr val="1A1A2E">
                <a:alpha val="12000"/>
              </a:srgbClr>
            </a:outerShdw>
          </a:effectLst>
        </p:spPr>
      </p:sp>
      <p:pic>
        <p:nvPicPr>
          <p:cNvPr id="21" name="Image 3" descr="/home/claude/proj/icons/calc_w.png">    </p:cNvPr>
          <p:cNvPicPr>
            <a:picLocks noChangeAspect="1"/>
          </p:cNvPicPr>
          <p:nvPr/>
        </p:nvPicPr>
        <p:blipFill>
          <a:blip r:embed="rId4"/>
          <a:stretch>
            <a:fillRect/>
          </a:stretch>
        </p:blipFill>
        <p:spPr>
          <a:xfrm>
            <a:off x="6031382" y="2328062"/>
            <a:ext cx="281635" cy="281635"/>
          </a:xfrm>
          <a:prstGeom prst="rect">
            <a:avLst/>
          </a:prstGeom>
        </p:spPr>
      </p:pic>
      <p:sp>
        <p:nvSpPr>
          <p:cNvPr id="22" name="Text 16"/>
          <p:cNvSpPr/>
          <p:nvPr/>
        </p:nvSpPr>
        <p:spPr>
          <a:xfrm>
            <a:off x="5852160" y="1856232"/>
            <a:ext cx="640080" cy="274320"/>
          </a:xfrm>
          <a:prstGeom prst="rect">
            <a:avLst/>
          </a:prstGeom>
          <a:noFill/>
          <a:ln/>
        </p:spPr>
        <p:txBody>
          <a:bodyPr wrap="square" lIns="0" tIns="0" rIns="0" bIns="0" rtlCol="0" anchor="ctr"/>
          <a:lstStyle/>
          <a:p>
            <a:pPr algn="ctr" indent="0" marL="0">
              <a:buNone/>
            </a:pPr>
            <a:r>
              <a:rPr lang="en-US" sz="1000" b="1" dirty="0">
                <a:solidFill>
                  <a:srgbClr val="6B7186"/>
                </a:solidFill>
                <a:latin typeface="Calibri" pitchFamily="34" charset="0"/>
                <a:ea typeface="Calibri" pitchFamily="34" charset="-122"/>
                <a:cs typeface="Calibri" pitchFamily="34" charset="-120"/>
              </a:rPr>
              <a:t>4</a:t>
            </a:r>
            <a:endParaRPr lang="en-US" sz="1000" dirty="0"/>
          </a:p>
        </p:txBody>
      </p:sp>
      <p:sp>
        <p:nvSpPr>
          <p:cNvPr id="23" name="Text 17"/>
          <p:cNvSpPr/>
          <p:nvPr/>
        </p:nvSpPr>
        <p:spPr>
          <a:xfrm>
            <a:off x="5294376" y="2926080"/>
            <a:ext cx="1755648" cy="365760"/>
          </a:xfrm>
          <a:prstGeom prst="rect">
            <a:avLst/>
          </a:prstGeom>
          <a:noFill/>
          <a:ln/>
        </p:spPr>
        <p:txBody>
          <a:bodyPr wrap="square" lIns="0" tIns="0" rIns="0" bIns="0" rtlCol="0" anchor="ctr"/>
          <a:lstStyle/>
          <a:p>
            <a:pPr algn="ctr" indent="0" marL="0">
              <a:buNone/>
            </a:pPr>
            <a:r>
              <a:rPr lang="en-US" sz="1150" b="1" dirty="0">
                <a:solidFill>
                  <a:srgbClr val="24263B"/>
                </a:solidFill>
                <a:latin typeface="Calibri" pitchFamily="34" charset="0"/>
                <a:ea typeface="Calibri" pitchFamily="34" charset="-122"/>
                <a:cs typeface="Calibri" pitchFamily="34" charset="-120"/>
              </a:rPr>
              <a:t>RFM Engineering</a:t>
            </a:r>
            <a:endParaRPr lang="en-US" sz="1150" dirty="0"/>
          </a:p>
        </p:txBody>
      </p:sp>
      <p:sp>
        <p:nvSpPr>
          <p:cNvPr id="24" name="Text 18"/>
          <p:cNvSpPr/>
          <p:nvPr/>
        </p:nvSpPr>
        <p:spPr>
          <a:xfrm>
            <a:off x="5248656" y="3264408"/>
            <a:ext cx="1847088" cy="777240"/>
          </a:xfrm>
          <a:prstGeom prst="rect">
            <a:avLst/>
          </a:prstGeom>
          <a:noFill/>
          <a:ln/>
        </p:spPr>
        <p:txBody>
          <a:bodyPr wrap="square" lIns="0" tIns="0" rIns="0" bIns="0" rtlCol="0" anchor="t"/>
          <a:lstStyle/>
          <a:p>
            <a:pPr algn="ctr" indent="0" marL="0">
              <a:buNone/>
            </a:pPr>
            <a:r>
              <a:rPr lang="en-US" sz="900" dirty="0">
                <a:solidFill>
                  <a:srgbClr val="6B7186"/>
                </a:solidFill>
                <a:latin typeface="Calibri" pitchFamily="34" charset="0"/>
                <a:ea typeface="Calibri" pitchFamily="34" charset="-122"/>
                <a:cs typeface="Calibri" pitchFamily="34" charset="-120"/>
              </a:rPr>
              <a:t>Recency, Frequency, Monetary per customer</a:t>
            </a:r>
            <a:endParaRPr lang="en-US" sz="900" dirty="0"/>
          </a:p>
        </p:txBody>
      </p:sp>
      <p:sp>
        <p:nvSpPr>
          <p:cNvPr id="25" name="Shape 19"/>
          <p:cNvSpPr/>
          <p:nvPr/>
        </p:nvSpPr>
        <p:spPr>
          <a:xfrm>
            <a:off x="7479792" y="2148840"/>
            <a:ext cx="640080" cy="640080"/>
          </a:xfrm>
          <a:prstGeom prst="ellipse">
            <a:avLst/>
          </a:prstGeom>
          <a:solidFill>
            <a:srgbClr val="2F3C7E"/>
          </a:solidFill>
          <a:ln/>
          <a:effectLst>
            <a:outerShdw sx="100000" sy="100000" kx="0" ky="0" algn="bl" rotWithShape="0" blurRad="101600" dist="38100" dir="2700000">
              <a:srgbClr val="1A1A2E">
                <a:alpha val="12000"/>
              </a:srgbClr>
            </a:outerShdw>
          </a:effectLst>
        </p:spPr>
      </p:sp>
      <p:pic>
        <p:nvPicPr>
          <p:cNvPr id="26" name="Image 4" descr="/home/claude/proj/icons/layer_w.png">    </p:cNvPr>
          <p:cNvPicPr>
            <a:picLocks noChangeAspect="1"/>
          </p:cNvPicPr>
          <p:nvPr/>
        </p:nvPicPr>
        <p:blipFill>
          <a:blip r:embed="rId5"/>
          <a:stretch>
            <a:fillRect/>
          </a:stretch>
        </p:blipFill>
        <p:spPr>
          <a:xfrm>
            <a:off x="7659014" y="2328062"/>
            <a:ext cx="281635" cy="281635"/>
          </a:xfrm>
          <a:prstGeom prst="rect">
            <a:avLst/>
          </a:prstGeom>
        </p:spPr>
      </p:pic>
      <p:sp>
        <p:nvSpPr>
          <p:cNvPr id="27" name="Text 20"/>
          <p:cNvSpPr/>
          <p:nvPr/>
        </p:nvSpPr>
        <p:spPr>
          <a:xfrm>
            <a:off x="7479792" y="1856232"/>
            <a:ext cx="640080" cy="274320"/>
          </a:xfrm>
          <a:prstGeom prst="rect">
            <a:avLst/>
          </a:prstGeom>
          <a:noFill/>
          <a:ln/>
        </p:spPr>
        <p:txBody>
          <a:bodyPr wrap="square" lIns="0" tIns="0" rIns="0" bIns="0" rtlCol="0" anchor="ctr"/>
          <a:lstStyle/>
          <a:p>
            <a:pPr algn="ctr" indent="0" marL="0">
              <a:buNone/>
            </a:pPr>
            <a:r>
              <a:rPr lang="en-US" sz="1000" b="1" dirty="0">
                <a:solidFill>
                  <a:srgbClr val="6B7186"/>
                </a:solidFill>
                <a:latin typeface="Calibri" pitchFamily="34" charset="0"/>
                <a:ea typeface="Calibri" pitchFamily="34" charset="-122"/>
                <a:cs typeface="Calibri" pitchFamily="34" charset="-120"/>
              </a:rPr>
              <a:t>5</a:t>
            </a:r>
            <a:endParaRPr lang="en-US" sz="1000" dirty="0"/>
          </a:p>
        </p:txBody>
      </p:sp>
      <p:sp>
        <p:nvSpPr>
          <p:cNvPr id="28" name="Text 21"/>
          <p:cNvSpPr/>
          <p:nvPr/>
        </p:nvSpPr>
        <p:spPr>
          <a:xfrm>
            <a:off x="6922008" y="2926080"/>
            <a:ext cx="1755648" cy="365760"/>
          </a:xfrm>
          <a:prstGeom prst="rect">
            <a:avLst/>
          </a:prstGeom>
          <a:noFill/>
          <a:ln/>
        </p:spPr>
        <p:txBody>
          <a:bodyPr wrap="square" lIns="0" tIns="0" rIns="0" bIns="0" rtlCol="0" anchor="ctr"/>
          <a:lstStyle/>
          <a:p>
            <a:pPr algn="ctr" indent="0" marL="0">
              <a:buNone/>
            </a:pPr>
            <a:r>
              <a:rPr lang="en-US" sz="1150" b="1" dirty="0">
                <a:solidFill>
                  <a:srgbClr val="24263B"/>
                </a:solidFill>
                <a:latin typeface="Calibri" pitchFamily="34" charset="0"/>
                <a:ea typeface="Calibri" pitchFamily="34" charset="-122"/>
                <a:cs typeface="Calibri" pitchFamily="34" charset="-120"/>
              </a:rPr>
              <a:t>Clustering</a:t>
            </a:r>
            <a:endParaRPr lang="en-US" sz="1150" dirty="0"/>
          </a:p>
        </p:txBody>
      </p:sp>
      <p:sp>
        <p:nvSpPr>
          <p:cNvPr id="29" name="Text 22"/>
          <p:cNvSpPr/>
          <p:nvPr/>
        </p:nvSpPr>
        <p:spPr>
          <a:xfrm>
            <a:off x="6876288" y="3264408"/>
            <a:ext cx="1847088" cy="777240"/>
          </a:xfrm>
          <a:prstGeom prst="rect">
            <a:avLst/>
          </a:prstGeom>
          <a:noFill/>
          <a:ln/>
        </p:spPr>
        <p:txBody>
          <a:bodyPr wrap="square" lIns="0" tIns="0" rIns="0" bIns="0" rtlCol="0" anchor="t"/>
          <a:lstStyle/>
          <a:p>
            <a:pPr algn="ctr" indent="0" marL="0">
              <a:buNone/>
            </a:pPr>
            <a:r>
              <a:rPr lang="en-US" sz="900" dirty="0">
                <a:solidFill>
                  <a:srgbClr val="6B7186"/>
                </a:solidFill>
                <a:latin typeface="Calibri" pitchFamily="34" charset="0"/>
                <a:ea typeface="Calibri" pitchFamily="34" charset="-122"/>
                <a:cs typeface="Calibri" pitchFamily="34" charset="-120"/>
              </a:rPr>
              <a:t>K-Means segmentation of customers</a:t>
            </a:r>
            <a:endParaRPr lang="en-US" sz="900" dirty="0"/>
          </a:p>
        </p:txBody>
      </p:sp>
      <p:sp>
        <p:nvSpPr>
          <p:cNvPr id="30" name="Shape 23"/>
          <p:cNvSpPr/>
          <p:nvPr/>
        </p:nvSpPr>
        <p:spPr>
          <a:xfrm>
            <a:off x="9107424" y="2148840"/>
            <a:ext cx="640080" cy="640080"/>
          </a:xfrm>
          <a:prstGeom prst="ellipse">
            <a:avLst/>
          </a:prstGeom>
          <a:solidFill>
            <a:srgbClr val="F96167"/>
          </a:solidFill>
          <a:ln/>
          <a:effectLst>
            <a:outerShdw sx="100000" sy="100000" kx="0" ky="0" algn="bl" rotWithShape="0" blurRad="101600" dist="38100" dir="2700000">
              <a:srgbClr val="1A1A2E">
                <a:alpha val="12000"/>
              </a:srgbClr>
            </a:outerShdw>
          </a:effectLst>
        </p:spPr>
      </p:sp>
      <p:pic>
        <p:nvPicPr>
          <p:cNvPr id="31" name="Image 5" descr="/home/claude/proj/icons/exchange_w.png">    </p:cNvPr>
          <p:cNvPicPr>
            <a:picLocks noChangeAspect="1"/>
          </p:cNvPicPr>
          <p:nvPr/>
        </p:nvPicPr>
        <p:blipFill>
          <a:blip r:embed="rId6"/>
          <a:stretch>
            <a:fillRect/>
          </a:stretch>
        </p:blipFill>
        <p:spPr>
          <a:xfrm>
            <a:off x="9286646" y="2328062"/>
            <a:ext cx="281635" cy="281635"/>
          </a:xfrm>
          <a:prstGeom prst="rect">
            <a:avLst/>
          </a:prstGeom>
        </p:spPr>
      </p:pic>
      <p:sp>
        <p:nvSpPr>
          <p:cNvPr id="32" name="Text 24"/>
          <p:cNvSpPr/>
          <p:nvPr/>
        </p:nvSpPr>
        <p:spPr>
          <a:xfrm>
            <a:off x="9107424" y="1856232"/>
            <a:ext cx="640080" cy="274320"/>
          </a:xfrm>
          <a:prstGeom prst="rect">
            <a:avLst/>
          </a:prstGeom>
          <a:noFill/>
          <a:ln/>
        </p:spPr>
        <p:txBody>
          <a:bodyPr wrap="square" lIns="0" tIns="0" rIns="0" bIns="0" rtlCol="0" anchor="ctr"/>
          <a:lstStyle/>
          <a:p>
            <a:pPr algn="ctr" indent="0" marL="0">
              <a:buNone/>
            </a:pPr>
            <a:r>
              <a:rPr lang="en-US" sz="1000" b="1" dirty="0">
                <a:solidFill>
                  <a:srgbClr val="6B7186"/>
                </a:solidFill>
                <a:latin typeface="Calibri" pitchFamily="34" charset="0"/>
                <a:ea typeface="Calibri" pitchFamily="34" charset="-122"/>
                <a:cs typeface="Calibri" pitchFamily="34" charset="-120"/>
              </a:rPr>
              <a:t>6</a:t>
            </a:r>
            <a:endParaRPr lang="en-US" sz="1000" dirty="0"/>
          </a:p>
        </p:txBody>
      </p:sp>
      <p:sp>
        <p:nvSpPr>
          <p:cNvPr id="33" name="Text 25"/>
          <p:cNvSpPr/>
          <p:nvPr/>
        </p:nvSpPr>
        <p:spPr>
          <a:xfrm>
            <a:off x="8549640" y="2926080"/>
            <a:ext cx="1755648" cy="365760"/>
          </a:xfrm>
          <a:prstGeom prst="rect">
            <a:avLst/>
          </a:prstGeom>
          <a:noFill/>
          <a:ln/>
        </p:spPr>
        <p:txBody>
          <a:bodyPr wrap="square" lIns="0" tIns="0" rIns="0" bIns="0" rtlCol="0" anchor="ctr"/>
          <a:lstStyle/>
          <a:p>
            <a:pPr algn="ctr" indent="0" marL="0">
              <a:buNone/>
            </a:pPr>
            <a:r>
              <a:rPr lang="en-US" sz="1150" b="1" dirty="0">
                <a:solidFill>
                  <a:srgbClr val="24263B"/>
                </a:solidFill>
                <a:latin typeface="Calibri" pitchFamily="34" charset="0"/>
                <a:ea typeface="Calibri" pitchFamily="34" charset="-122"/>
                <a:cs typeface="Calibri" pitchFamily="34" charset="-120"/>
              </a:rPr>
              <a:t>Recommendation</a:t>
            </a:r>
            <a:endParaRPr lang="en-US" sz="1150" dirty="0"/>
          </a:p>
        </p:txBody>
      </p:sp>
      <p:sp>
        <p:nvSpPr>
          <p:cNvPr id="34" name="Text 26"/>
          <p:cNvSpPr/>
          <p:nvPr/>
        </p:nvSpPr>
        <p:spPr>
          <a:xfrm>
            <a:off x="8503920" y="3264408"/>
            <a:ext cx="1847088" cy="777240"/>
          </a:xfrm>
          <a:prstGeom prst="rect">
            <a:avLst/>
          </a:prstGeom>
          <a:noFill/>
          <a:ln/>
        </p:spPr>
        <p:txBody>
          <a:bodyPr wrap="square" lIns="0" tIns="0" rIns="0" bIns="0" rtlCol="0" anchor="t"/>
          <a:lstStyle/>
          <a:p>
            <a:pPr algn="ctr" indent="0" marL="0">
              <a:buNone/>
            </a:pPr>
            <a:r>
              <a:rPr lang="en-US" sz="900" dirty="0">
                <a:solidFill>
                  <a:srgbClr val="6B7186"/>
                </a:solidFill>
                <a:latin typeface="Calibri" pitchFamily="34" charset="0"/>
                <a:ea typeface="Calibri" pitchFamily="34" charset="-122"/>
                <a:cs typeface="Calibri" pitchFamily="34" charset="-120"/>
              </a:rPr>
              <a:t>Cosine similarity between products</a:t>
            </a:r>
            <a:endParaRPr lang="en-US" sz="900" dirty="0"/>
          </a:p>
        </p:txBody>
      </p:sp>
      <p:sp>
        <p:nvSpPr>
          <p:cNvPr id="35" name="Shape 27"/>
          <p:cNvSpPr/>
          <p:nvPr/>
        </p:nvSpPr>
        <p:spPr>
          <a:xfrm>
            <a:off x="10735056" y="2148840"/>
            <a:ext cx="640080" cy="640080"/>
          </a:xfrm>
          <a:prstGeom prst="ellipse">
            <a:avLst/>
          </a:prstGeom>
          <a:solidFill>
            <a:srgbClr val="2F3C7E"/>
          </a:solidFill>
          <a:ln/>
          <a:effectLst>
            <a:outerShdw sx="100000" sy="100000" kx="0" ky="0" algn="bl" rotWithShape="0" blurRad="101600" dist="38100" dir="2700000">
              <a:srgbClr val="1A1A2E">
                <a:alpha val="12000"/>
              </a:srgbClr>
            </a:outerShdw>
          </a:effectLst>
        </p:spPr>
      </p:sp>
      <p:pic>
        <p:nvPicPr>
          <p:cNvPr id="36" name="Image 6" descr="/home/claude/proj/icons/laptop_w.png">    </p:cNvPr>
          <p:cNvPicPr>
            <a:picLocks noChangeAspect="1"/>
          </p:cNvPicPr>
          <p:nvPr/>
        </p:nvPicPr>
        <p:blipFill>
          <a:blip r:embed="rId7"/>
          <a:stretch>
            <a:fillRect/>
          </a:stretch>
        </p:blipFill>
        <p:spPr>
          <a:xfrm>
            <a:off x="10914278" y="2328062"/>
            <a:ext cx="281635" cy="281635"/>
          </a:xfrm>
          <a:prstGeom prst="rect">
            <a:avLst/>
          </a:prstGeom>
        </p:spPr>
      </p:pic>
      <p:sp>
        <p:nvSpPr>
          <p:cNvPr id="37" name="Text 28"/>
          <p:cNvSpPr/>
          <p:nvPr/>
        </p:nvSpPr>
        <p:spPr>
          <a:xfrm>
            <a:off x="10735056" y="1856232"/>
            <a:ext cx="640080" cy="274320"/>
          </a:xfrm>
          <a:prstGeom prst="rect">
            <a:avLst/>
          </a:prstGeom>
          <a:noFill/>
          <a:ln/>
        </p:spPr>
        <p:txBody>
          <a:bodyPr wrap="square" lIns="0" tIns="0" rIns="0" bIns="0" rtlCol="0" anchor="ctr"/>
          <a:lstStyle/>
          <a:p>
            <a:pPr algn="ctr" indent="0" marL="0">
              <a:buNone/>
            </a:pPr>
            <a:r>
              <a:rPr lang="en-US" sz="1000" b="1" dirty="0">
                <a:solidFill>
                  <a:srgbClr val="6B7186"/>
                </a:solidFill>
                <a:latin typeface="Calibri" pitchFamily="34" charset="0"/>
                <a:ea typeface="Calibri" pitchFamily="34" charset="-122"/>
                <a:cs typeface="Calibri" pitchFamily="34" charset="-120"/>
              </a:rPr>
              <a:t>7</a:t>
            </a:r>
            <a:endParaRPr lang="en-US" sz="1000" dirty="0"/>
          </a:p>
        </p:txBody>
      </p:sp>
      <p:sp>
        <p:nvSpPr>
          <p:cNvPr id="38" name="Text 29"/>
          <p:cNvSpPr/>
          <p:nvPr/>
        </p:nvSpPr>
        <p:spPr>
          <a:xfrm>
            <a:off x="10177272" y="2926080"/>
            <a:ext cx="1755648" cy="365760"/>
          </a:xfrm>
          <a:prstGeom prst="rect">
            <a:avLst/>
          </a:prstGeom>
          <a:noFill/>
          <a:ln/>
        </p:spPr>
        <p:txBody>
          <a:bodyPr wrap="square" lIns="0" tIns="0" rIns="0" bIns="0" rtlCol="0" anchor="ctr"/>
          <a:lstStyle/>
          <a:p>
            <a:pPr algn="ctr" indent="0" marL="0">
              <a:buNone/>
            </a:pPr>
            <a:r>
              <a:rPr lang="en-US" sz="1150" b="1" dirty="0">
                <a:solidFill>
                  <a:srgbClr val="24263B"/>
                </a:solidFill>
                <a:latin typeface="Calibri" pitchFamily="34" charset="0"/>
                <a:ea typeface="Calibri" pitchFamily="34" charset="-122"/>
                <a:cs typeface="Calibri" pitchFamily="34" charset="-120"/>
              </a:rPr>
              <a:t>Streamlit App</a:t>
            </a:r>
            <a:endParaRPr lang="en-US" sz="1150" dirty="0"/>
          </a:p>
        </p:txBody>
      </p:sp>
      <p:sp>
        <p:nvSpPr>
          <p:cNvPr id="39" name="Text 30"/>
          <p:cNvSpPr/>
          <p:nvPr/>
        </p:nvSpPr>
        <p:spPr>
          <a:xfrm>
            <a:off x="10131552" y="3264408"/>
            <a:ext cx="1847088" cy="777240"/>
          </a:xfrm>
          <a:prstGeom prst="rect">
            <a:avLst/>
          </a:prstGeom>
          <a:noFill/>
          <a:ln/>
        </p:spPr>
        <p:txBody>
          <a:bodyPr wrap="square" lIns="0" tIns="0" rIns="0" bIns="0" rtlCol="0" anchor="t"/>
          <a:lstStyle/>
          <a:p>
            <a:pPr algn="ctr" indent="0" marL="0">
              <a:buNone/>
            </a:pPr>
            <a:r>
              <a:rPr lang="en-US" sz="900" dirty="0">
                <a:solidFill>
                  <a:srgbClr val="6B7186"/>
                </a:solidFill>
                <a:latin typeface="Calibri" pitchFamily="34" charset="0"/>
                <a:ea typeface="Calibri" pitchFamily="34" charset="-122"/>
                <a:cs typeface="Calibri" pitchFamily="34" charset="-120"/>
              </a:rPr>
              <a:t>Deploy interactive prediction UI</a:t>
            </a:r>
            <a:endParaRPr lang="en-US" sz="900" dirty="0"/>
          </a:p>
        </p:txBody>
      </p:sp>
      <p:sp>
        <p:nvSpPr>
          <p:cNvPr id="40" name="Text 31"/>
          <p:cNvSpPr/>
          <p:nvPr/>
        </p:nvSpPr>
        <p:spPr>
          <a:xfrm>
            <a:off x="457200" y="6473952"/>
            <a:ext cx="3657600" cy="274320"/>
          </a:xfrm>
          <a:prstGeom prst="rect">
            <a:avLst/>
          </a:prstGeom>
          <a:noFill/>
          <a:ln/>
        </p:spPr>
        <p:txBody>
          <a:bodyPr wrap="square" lIns="0" tIns="0" rIns="0" bIns="0" rtlCol="0" anchor="ctr"/>
          <a:lstStyle/>
          <a:p>
            <a:pPr indent="0" marL="0">
              <a:buNone/>
            </a:pPr>
            <a:r>
              <a:rPr lang="en-US" sz="900" spc="200" kern="0" dirty="0">
                <a:solidFill>
                  <a:srgbClr val="6B7186"/>
                </a:solidFill>
                <a:latin typeface="Calibri" pitchFamily="34" charset="0"/>
                <a:ea typeface="Calibri" pitchFamily="34" charset="-122"/>
                <a:cs typeface="Calibri" pitchFamily="34" charset="-120"/>
              </a:rPr>
              <a:t>SHOPPER SPECTRUM</a:t>
            </a:r>
            <a:endParaRPr lang="en-US" sz="900" dirty="0"/>
          </a:p>
        </p:txBody>
      </p:sp>
      <p:sp>
        <p:nvSpPr>
          <p:cNvPr id="41" name="Text 32"/>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718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32C5E"/>
        </a:solidFill>
      </p:bgPr>
    </p:bg>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lIns="0" tIns="0" rIns="0" bIns="0" rtlCol="0" anchor="ctr"/>
          <a:lstStyle/>
          <a:p>
            <a:pPr indent="0" marL="0">
              <a:buNone/>
            </a:pPr>
            <a:r>
              <a:rPr lang="en-US" sz="1200" b="1" spc="200" kern="0" dirty="0">
                <a:solidFill>
                  <a:srgbClr val="F9E795"/>
                </a:solidFill>
                <a:latin typeface="Calibri" pitchFamily="34" charset="0"/>
                <a:ea typeface="Calibri" pitchFamily="34" charset="-122"/>
                <a:cs typeface="Calibri" pitchFamily="34" charset="-120"/>
              </a:rPr>
              <a:t>04  DATA PREPROCESSING</a:t>
            </a:r>
            <a:endParaRPr lang="en-US" sz="1200" dirty="0"/>
          </a:p>
        </p:txBody>
      </p:sp>
      <p:sp>
        <p:nvSpPr>
          <p:cNvPr id="3" name="Text 1"/>
          <p:cNvSpPr/>
          <p:nvPr/>
        </p:nvSpPr>
        <p:spPr>
          <a:xfrm>
            <a:off x="548640" y="777240"/>
            <a:ext cx="8686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Getting the Data Analysis-Ready</a:t>
            </a:r>
            <a:endParaRPr lang="en-US" sz="3000" dirty="0"/>
          </a:p>
        </p:txBody>
      </p:sp>
      <p:sp>
        <p:nvSpPr>
          <p:cNvPr id="4" name="Shape 2"/>
          <p:cNvSpPr/>
          <p:nvPr/>
        </p:nvSpPr>
        <p:spPr>
          <a:xfrm>
            <a:off x="548640" y="1828800"/>
            <a:ext cx="11064240" cy="1234440"/>
          </a:xfrm>
          <a:prstGeom prst="roundRect">
            <a:avLst>
              <a:gd name="adj" fmla="val 7407"/>
            </a:avLst>
          </a:prstGeom>
          <a:solidFill>
            <a:srgbClr val="2F3C7E"/>
          </a:solidFill>
          <a:ln/>
          <a:effectLst>
            <a:outerShdw sx="100000" sy="100000" kx="0" ky="0" algn="bl" rotWithShape="0" blurRad="101600" dist="38100" dir="2700000">
              <a:srgbClr val="1A1A2E">
                <a:alpha val="12000"/>
              </a:srgbClr>
            </a:outerShdw>
          </a:effectLst>
        </p:spPr>
      </p:sp>
      <p:sp>
        <p:nvSpPr>
          <p:cNvPr id="5" name="Shape 3"/>
          <p:cNvSpPr/>
          <p:nvPr/>
        </p:nvSpPr>
        <p:spPr>
          <a:xfrm>
            <a:off x="822960" y="2121408"/>
            <a:ext cx="640080" cy="640080"/>
          </a:xfrm>
          <a:prstGeom prst="ellipse">
            <a:avLst/>
          </a:prstGeom>
          <a:solidFill>
            <a:srgbClr val="F96167"/>
          </a:solidFill>
          <a:ln/>
        </p:spPr>
      </p:sp>
      <p:pic>
        <p:nvPicPr>
          <p:cNvPr id="6" name="Image 0" descr="/home/claude/proj/icons/filter_w.png">    </p:cNvPr>
          <p:cNvPicPr>
            <a:picLocks noChangeAspect="1"/>
          </p:cNvPicPr>
          <p:nvPr/>
        </p:nvPicPr>
        <p:blipFill>
          <a:blip r:embed="rId1"/>
          <a:stretch>
            <a:fillRect/>
          </a:stretch>
        </p:blipFill>
        <p:spPr>
          <a:xfrm>
            <a:off x="989381" y="2287829"/>
            <a:ext cx="307238" cy="307238"/>
          </a:xfrm>
          <a:prstGeom prst="rect">
            <a:avLst/>
          </a:prstGeom>
        </p:spPr>
      </p:pic>
      <p:sp>
        <p:nvSpPr>
          <p:cNvPr id="7" name="Text 4"/>
          <p:cNvSpPr/>
          <p:nvPr/>
        </p:nvSpPr>
        <p:spPr>
          <a:xfrm>
            <a:off x="1691640" y="1993392"/>
            <a:ext cx="8778240" cy="36576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Remove missing CustomerID</a:t>
            </a:r>
            <a:endParaRPr lang="en-US" sz="1550" dirty="0"/>
          </a:p>
        </p:txBody>
      </p:sp>
      <p:sp>
        <p:nvSpPr>
          <p:cNvPr id="8" name="Text 5"/>
          <p:cNvSpPr/>
          <p:nvPr/>
        </p:nvSpPr>
        <p:spPr>
          <a:xfrm>
            <a:off x="1691640" y="2377440"/>
            <a:ext cx="9052560" cy="548640"/>
          </a:xfrm>
          <a:prstGeom prst="rect">
            <a:avLst/>
          </a:prstGeom>
          <a:noFill/>
          <a:ln/>
        </p:spPr>
        <p:txBody>
          <a:bodyPr wrap="square" lIns="0" tIns="0" rIns="0" bIns="0" rtlCol="0" anchor="ctr"/>
          <a:lstStyle/>
          <a:p>
            <a:pPr indent="0" marL="0">
              <a:buNone/>
            </a:pPr>
            <a:r>
              <a:rPr lang="en-US" sz="1200" dirty="0">
                <a:solidFill>
                  <a:srgbClr val="C6CBE8"/>
                </a:solidFill>
                <a:latin typeface="Calibri" pitchFamily="34" charset="0"/>
                <a:ea typeface="Calibri" pitchFamily="34" charset="-122"/>
                <a:cs typeface="Calibri" pitchFamily="34" charset="-120"/>
              </a:rPr>
              <a:t>Rows without a customer identifier can't be attributed to any shopper, so they are dropped.</a:t>
            </a:r>
            <a:endParaRPr lang="en-US" sz="1200" dirty="0"/>
          </a:p>
        </p:txBody>
      </p:sp>
      <p:sp>
        <p:nvSpPr>
          <p:cNvPr id="9" name="Shape 6"/>
          <p:cNvSpPr/>
          <p:nvPr/>
        </p:nvSpPr>
        <p:spPr>
          <a:xfrm>
            <a:off x="548640" y="3273552"/>
            <a:ext cx="11064240" cy="1234440"/>
          </a:xfrm>
          <a:prstGeom prst="roundRect">
            <a:avLst>
              <a:gd name="adj" fmla="val 7407"/>
            </a:avLst>
          </a:prstGeom>
          <a:solidFill>
            <a:srgbClr val="2F3C7E"/>
          </a:solidFill>
          <a:ln/>
          <a:effectLst>
            <a:outerShdw sx="100000" sy="100000" kx="0" ky="0" algn="bl" rotWithShape="0" blurRad="101600" dist="38100" dir="2700000">
              <a:srgbClr val="1A1A2E">
                <a:alpha val="12000"/>
              </a:srgbClr>
            </a:outerShdw>
          </a:effectLst>
        </p:spPr>
      </p:sp>
      <p:sp>
        <p:nvSpPr>
          <p:cNvPr id="10" name="Shape 7"/>
          <p:cNvSpPr/>
          <p:nvPr/>
        </p:nvSpPr>
        <p:spPr>
          <a:xfrm>
            <a:off x="822960" y="3566160"/>
            <a:ext cx="640080" cy="640080"/>
          </a:xfrm>
          <a:prstGeom prst="ellipse">
            <a:avLst/>
          </a:prstGeom>
          <a:solidFill>
            <a:srgbClr val="F96167"/>
          </a:solidFill>
          <a:ln/>
        </p:spPr>
      </p:sp>
      <p:pic>
        <p:nvPicPr>
          <p:cNvPr id="11" name="Image 1" descr="/home/claude/proj/icons/broom_w.png">    </p:cNvPr>
          <p:cNvPicPr>
            <a:picLocks noChangeAspect="1"/>
          </p:cNvPicPr>
          <p:nvPr/>
        </p:nvPicPr>
        <p:blipFill>
          <a:blip r:embed="rId2"/>
          <a:stretch>
            <a:fillRect/>
          </a:stretch>
        </p:blipFill>
        <p:spPr>
          <a:xfrm>
            <a:off x="989381" y="3732581"/>
            <a:ext cx="307238" cy="307238"/>
          </a:xfrm>
          <a:prstGeom prst="rect">
            <a:avLst/>
          </a:prstGeom>
        </p:spPr>
      </p:pic>
      <p:sp>
        <p:nvSpPr>
          <p:cNvPr id="12" name="Text 8"/>
          <p:cNvSpPr/>
          <p:nvPr/>
        </p:nvSpPr>
        <p:spPr>
          <a:xfrm>
            <a:off x="1691640" y="3438144"/>
            <a:ext cx="8778240" cy="36576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Exclude cancelled invoices</a:t>
            </a:r>
            <a:endParaRPr lang="en-US" sz="1550" dirty="0"/>
          </a:p>
        </p:txBody>
      </p:sp>
      <p:sp>
        <p:nvSpPr>
          <p:cNvPr id="13" name="Text 9"/>
          <p:cNvSpPr/>
          <p:nvPr/>
        </p:nvSpPr>
        <p:spPr>
          <a:xfrm>
            <a:off x="1691640" y="3822192"/>
            <a:ext cx="9052560" cy="548640"/>
          </a:xfrm>
          <a:prstGeom prst="rect">
            <a:avLst/>
          </a:prstGeom>
          <a:noFill/>
          <a:ln/>
        </p:spPr>
        <p:txBody>
          <a:bodyPr wrap="square" lIns="0" tIns="0" rIns="0" bIns="0" rtlCol="0" anchor="ctr"/>
          <a:lstStyle/>
          <a:p>
            <a:pPr indent="0" marL="0">
              <a:buNone/>
            </a:pPr>
            <a:r>
              <a:rPr lang="en-US" sz="1200" dirty="0">
                <a:solidFill>
                  <a:srgbClr val="C6CBE8"/>
                </a:solidFill>
                <a:latin typeface="Calibri" pitchFamily="34" charset="0"/>
                <a:ea typeface="Calibri" pitchFamily="34" charset="-122"/>
                <a:cs typeface="Calibri" pitchFamily="34" charset="-120"/>
              </a:rPr>
              <a:t>Any InvoiceNo starting with 'C' represents a cancellation and is removed from the dataset.</a:t>
            </a:r>
            <a:endParaRPr lang="en-US" sz="1200" dirty="0"/>
          </a:p>
        </p:txBody>
      </p:sp>
      <p:sp>
        <p:nvSpPr>
          <p:cNvPr id="14" name="Shape 10"/>
          <p:cNvSpPr/>
          <p:nvPr/>
        </p:nvSpPr>
        <p:spPr>
          <a:xfrm>
            <a:off x="548640" y="4718304"/>
            <a:ext cx="11064240" cy="1234440"/>
          </a:xfrm>
          <a:prstGeom prst="roundRect">
            <a:avLst>
              <a:gd name="adj" fmla="val 7407"/>
            </a:avLst>
          </a:prstGeom>
          <a:solidFill>
            <a:srgbClr val="2F3C7E"/>
          </a:solidFill>
          <a:ln/>
          <a:effectLst>
            <a:outerShdw sx="100000" sy="100000" kx="0" ky="0" algn="bl" rotWithShape="0" blurRad="101600" dist="38100" dir="2700000">
              <a:srgbClr val="1A1A2E">
                <a:alpha val="12000"/>
              </a:srgbClr>
            </a:outerShdw>
          </a:effectLst>
        </p:spPr>
      </p:sp>
      <p:sp>
        <p:nvSpPr>
          <p:cNvPr id="15" name="Shape 11"/>
          <p:cNvSpPr/>
          <p:nvPr/>
        </p:nvSpPr>
        <p:spPr>
          <a:xfrm>
            <a:off x="822960" y="5010912"/>
            <a:ext cx="640080" cy="640080"/>
          </a:xfrm>
          <a:prstGeom prst="ellipse">
            <a:avLst/>
          </a:prstGeom>
          <a:solidFill>
            <a:srgbClr val="F96167"/>
          </a:solidFill>
          <a:ln/>
        </p:spPr>
      </p:sp>
      <p:pic>
        <p:nvPicPr>
          <p:cNvPr id="16" name="Image 2" descr="/home/claude/proj/icons/check_w.png">    </p:cNvPr>
          <p:cNvPicPr>
            <a:picLocks noChangeAspect="1"/>
          </p:cNvPicPr>
          <p:nvPr/>
        </p:nvPicPr>
        <p:blipFill>
          <a:blip r:embed="rId3"/>
          <a:stretch>
            <a:fillRect/>
          </a:stretch>
        </p:blipFill>
        <p:spPr>
          <a:xfrm>
            <a:off x="989381" y="5177333"/>
            <a:ext cx="307238" cy="307238"/>
          </a:xfrm>
          <a:prstGeom prst="rect">
            <a:avLst/>
          </a:prstGeom>
        </p:spPr>
      </p:pic>
      <p:sp>
        <p:nvSpPr>
          <p:cNvPr id="17" name="Text 12"/>
          <p:cNvSpPr/>
          <p:nvPr/>
        </p:nvSpPr>
        <p:spPr>
          <a:xfrm>
            <a:off x="1691640" y="4882896"/>
            <a:ext cx="8778240" cy="36576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Remove negative / zero values</a:t>
            </a:r>
            <a:endParaRPr lang="en-US" sz="1550" dirty="0"/>
          </a:p>
        </p:txBody>
      </p:sp>
      <p:sp>
        <p:nvSpPr>
          <p:cNvPr id="18" name="Text 13"/>
          <p:cNvSpPr/>
          <p:nvPr/>
        </p:nvSpPr>
        <p:spPr>
          <a:xfrm>
            <a:off x="1691640" y="5266944"/>
            <a:ext cx="9052560" cy="548640"/>
          </a:xfrm>
          <a:prstGeom prst="rect">
            <a:avLst/>
          </a:prstGeom>
          <a:noFill/>
          <a:ln/>
        </p:spPr>
        <p:txBody>
          <a:bodyPr wrap="square" lIns="0" tIns="0" rIns="0" bIns="0" rtlCol="0" anchor="ctr"/>
          <a:lstStyle/>
          <a:p>
            <a:pPr indent="0" marL="0">
              <a:buNone/>
            </a:pPr>
            <a:r>
              <a:rPr lang="en-US" sz="1200" dirty="0">
                <a:solidFill>
                  <a:srgbClr val="C6CBE8"/>
                </a:solidFill>
                <a:latin typeface="Calibri" pitchFamily="34" charset="0"/>
                <a:ea typeface="Calibri" pitchFamily="34" charset="-122"/>
                <a:cs typeface="Calibri" pitchFamily="34" charset="-120"/>
              </a:rPr>
              <a:t>Transactions with non-positive Quantity or UnitPrice are filtered out as invalid records.</a:t>
            </a:r>
            <a:endParaRPr lang="en-US" sz="1200" dirty="0"/>
          </a:p>
        </p:txBody>
      </p:sp>
      <p:sp>
        <p:nvSpPr>
          <p:cNvPr id="19" name="Text 14"/>
          <p:cNvSpPr/>
          <p:nvPr/>
        </p:nvSpPr>
        <p:spPr>
          <a:xfrm>
            <a:off x="457200" y="6473952"/>
            <a:ext cx="3657600" cy="274320"/>
          </a:xfrm>
          <a:prstGeom prst="rect">
            <a:avLst/>
          </a:prstGeom>
          <a:noFill/>
          <a:ln/>
        </p:spPr>
        <p:txBody>
          <a:bodyPr wrap="square" lIns="0" tIns="0" rIns="0" bIns="0" rtlCol="0" anchor="ctr"/>
          <a:lstStyle/>
          <a:p>
            <a:pPr indent="0" marL="0">
              <a:buNone/>
            </a:pPr>
            <a:r>
              <a:rPr lang="en-US" sz="900" spc="200" kern="0" dirty="0">
                <a:solidFill>
                  <a:srgbClr val="9AA0C8"/>
                </a:solidFill>
                <a:latin typeface="Calibri" pitchFamily="34" charset="0"/>
                <a:ea typeface="Calibri" pitchFamily="34" charset="-122"/>
                <a:cs typeface="Calibri" pitchFamily="34" charset="-120"/>
              </a:rPr>
              <a:t>SHOPPER SPECTRUM</a:t>
            </a:r>
            <a:endParaRPr lang="en-US" sz="900" dirty="0"/>
          </a:p>
        </p:txBody>
      </p:sp>
      <p:sp>
        <p:nvSpPr>
          <p:cNvPr id="20"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9AA0C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lIns="0" tIns="0" rIns="0" bIns="0"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05  EXPLORATORY DATA ANALYSIS</a:t>
            </a:r>
            <a:endParaRPr lang="en-US" sz="1200" dirty="0"/>
          </a:p>
        </p:txBody>
      </p:sp>
      <p:sp>
        <p:nvSpPr>
          <p:cNvPr id="3" name="Text 1"/>
          <p:cNvSpPr/>
          <p:nvPr/>
        </p:nvSpPr>
        <p:spPr>
          <a:xfrm>
            <a:off x="548640" y="777240"/>
            <a:ext cx="9144000" cy="640080"/>
          </a:xfrm>
          <a:prstGeom prst="rect">
            <a:avLst/>
          </a:prstGeom>
          <a:noFill/>
          <a:ln/>
        </p:spPr>
        <p:txBody>
          <a:bodyPr wrap="square" lIns="0" tIns="0" rIns="0" bIns="0" rtlCol="0" anchor="ctr"/>
          <a:lstStyle/>
          <a:p>
            <a:pPr indent="0" marL="0">
              <a:buNone/>
            </a:pPr>
            <a:r>
              <a:rPr lang="en-US" sz="3000" b="1" dirty="0">
                <a:solidFill>
                  <a:srgbClr val="24263B"/>
                </a:solidFill>
                <a:latin typeface="Cambria" pitchFamily="34" charset="0"/>
                <a:ea typeface="Cambria" pitchFamily="34" charset="-122"/>
                <a:cs typeface="Cambria" pitchFamily="34" charset="-120"/>
              </a:rPr>
              <a:t>Understanding Purchase Behavior</a:t>
            </a:r>
            <a:endParaRPr lang="en-US" sz="3000" dirty="0"/>
          </a:p>
        </p:txBody>
      </p:sp>
      <p:sp>
        <p:nvSpPr>
          <p:cNvPr id="4" name="Shape 2"/>
          <p:cNvSpPr/>
          <p:nvPr/>
        </p:nvSpPr>
        <p:spPr>
          <a:xfrm>
            <a:off x="548640" y="1828800"/>
            <a:ext cx="3639312" cy="1417320"/>
          </a:xfrm>
          <a:prstGeom prst="roundRect">
            <a:avLst>
              <a:gd name="adj" fmla="val 5806"/>
            </a:avLst>
          </a:prstGeom>
          <a:solidFill>
            <a:srgbClr val="FBEFEE"/>
          </a:solidFill>
          <a:ln/>
          <a:effectLst>
            <a:outerShdw sx="100000" sy="100000" kx="0" ky="0" algn="bl" rotWithShape="0" blurRad="101600" dist="38100" dir="2700000">
              <a:srgbClr val="1A1A2E">
                <a:alpha val="12000"/>
              </a:srgbClr>
            </a:outerShdw>
          </a:effectLst>
        </p:spPr>
      </p:sp>
      <p:sp>
        <p:nvSpPr>
          <p:cNvPr id="5" name="Shape 3"/>
          <p:cNvSpPr/>
          <p:nvPr/>
        </p:nvSpPr>
        <p:spPr>
          <a:xfrm>
            <a:off x="777240" y="2084832"/>
            <a:ext cx="566928" cy="566928"/>
          </a:xfrm>
          <a:prstGeom prst="ellipse">
            <a:avLst/>
          </a:prstGeom>
          <a:solidFill>
            <a:srgbClr val="FFFFFF"/>
          </a:solidFill>
          <a:ln/>
        </p:spPr>
      </p:sp>
      <p:pic>
        <p:nvPicPr>
          <p:cNvPr id="6" name="Image 0" descr="/home/claude/proj/icons/chart_coral.png">    </p:cNvPr>
          <p:cNvPicPr>
            <a:picLocks noChangeAspect="1"/>
          </p:cNvPicPr>
          <p:nvPr/>
        </p:nvPicPr>
        <p:blipFill>
          <a:blip r:embed="rId1"/>
          <a:stretch>
            <a:fillRect/>
          </a:stretch>
        </p:blipFill>
        <p:spPr>
          <a:xfrm>
            <a:off x="924641" y="2232233"/>
            <a:ext cx="272125" cy="272125"/>
          </a:xfrm>
          <a:prstGeom prst="rect">
            <a:avLst/>
          </a:prstGeom>
        </p:spPr>
      </p:pic>
      <p:sp>
        <p:nvSpPr>
          <p:cNvPr id="7" name="Text 4"/>
          <p:cNvSpPr/>
          <p:nvPr/>
        </p:nvSpPr>
        <p:spPr>
          <a:xfrm>
            <a:off x="1508760" y="2011680"/>
            <a:ext cx="2496312" cy="1005840"/>
          </a:xfrm>
          <a:prstGeom prst="rect">
            <a:avLst/>
          </a:prstGeom>
          <a:noFill/>
          <a:ln/>
        </p:spPr>
        <p:txBody>
          <a:bodyPr wrap="square" lIns="0" tIns="0" rIns="0" bIns="0" rtlCol="0" anchor="ctr"/>
          <a:lstStyle/>
          <a:p>
            <a:pPr indent="0" marL="0">
              <a:buNone/>
            </a:pPr>
            <a:r>
              <a:rPr lang="en-US" sz="1300" b="1" dirty="0">
                <a:solidFill>
                  <a:srgbClr val="24263B"/>
                </a:solidFill>
                <a:latin typeface="Calibri" pitchFamily="34" charset="0"/>
                <a:ea typeface="Calibri" pitchFamily="34" charset="-122"/>
                <a:cs typeface="Calibri" pitchFamily="34" charset="-120"/>
              </a:rPr>
              <a:t>Transaction volume by country</a:t>
            </a:r>
            <a:endParaRPr lang="en-US" sz="1300" dirty="0"/>
          </a:p>
        </p:txBody>
      </p:sp>
      <p:sp>
        <p:nvSpPr>
          <p:cNvPr id="8" name="Shape 5"/>
          <p:cNvSpPr/>
          <p:nvPr/>
        </p:nvSpPr>
        <p:spPr>
          <a:xfrm>
            <a:off x="4325112" y="1828800"/>
            <a:ext cx="3639312" cy="1417320"/>
          </a:xfrm>
          <a:prstGeom prst="roundRect">
            <a:avLst>
              <a:gd name="adj" fmla="val 5806"/>
            </a:avLst>
          </a:prstGeom>
          <a:solidFill>
            <a:srgbClr val="FBEFEE"/>
          </a:solidFill>
          <a:ln/>
          <a:effectLst>
            <a:outerShdw sx="100000" sy="100000" kx="0" ky="0" algn="bl" rotWithShape="0" blurRad="101600" dist="38100" dir="2700000">
              <a:srgbClr val="1A1A2E">
                <a:alpha val="12000"/>
              </a:srgbClr>
            </a:outerShdw>
          </a:effectLst>
        </p:spPr>
      </p:sp>
      <p:sp>
        <p:nvSpPr>
          <p:cNvPr id="9" name="Shape 6"/>
          <p:cNvSpPr/>
          <p:nvPr/>
        </p:nvSpPr>
        <p:spPr>
          <a:xfrm>
            <a:off x="4553712" y="2084832"/>
            <a:ext cx="566928" cy="566928"/>
          </a:xfrm>
          <a:prstGeom prst="ellipse">
            <a:avLst/>
          </a:prstGeom>
          <a:solidFill>
            <a:srgbClr val="FFFFFF"/>
          </a:solidFill>
          <a:ln/>
        </p:spPr>
      </p:sp>
      <p:pic>
        <p:nvPicPr>
          <p:cNvPr id="10" name="Image 1" descr="/home/claude/proj/icons/star_gold.png">    </p:cNvPr>
          <p:cNvPicPr>
            <a:picLocks noChangeAspect="1"/>
          </p:cNvPicPr>
          <p:nvPr/>
        </p:nvPicPr>
        <p:blipFill>
          <a:blip r:embed="rId2"/>
          <a:stretch>
            <a:fillRect/>
          </a:stretch>
        </p:blipFill>
        <p:spPr>
          <a:xfrm>
            <a:off x="4701113" y="2232233"/>
            <a:ext cx="272125" cy="272125"/>
          </a:xfrm>
          <a:prstGeom prst="rect">
            <a:avLst/>
          </a:prstGeom>
        </p:spPr>
      </p:pic>
      <p:sp>
        <p:nvSpPr>
          <p:cNvPr id="11" name="Text 7"/>
          <p:cNvSpPr/>
          <p:nvPr/>
        </p:nvSpPr>
        <p:spPr>
          <a:xfrm>
            <a:off x="5285232" y="2011680"/>
            <a:ext cx="2496312" cy="1005840"/>
          </a:xfrm>
          <a:prstGeom prst="rect">
            <a:avLst/>
          </a:prstGeom>
          <a:noFill/>
          <a:ln/>
        </p:spPr>
        <p:txBody>
          <a:bodyPr wrap="square" lIns="0" tIns="0" rIns="0" bIns="0" rtlCol="0" anchor="ctr"/>
          <a:lstStyle/>
          <a:p>
            <a:pPr indent="0" marL="0">
              <a:buNone/>
            </a:pPr>
            <a:r>
              <a:rPr lang="en-US" sz="1300" b="1" dirty="0">
                <a:solidFill>
                  <a:srgbClr val="24263B"/>
                </a:solidFill>
                <a:latin typeface="Calibri" pitchFamily="34" charset="0"/>
                <a:ea typeface="Calibri" pitchFamily="34" charset="-122"/>
                <a:cs typeface="Calibri" pitchFamily="34" charset="-120"/>
              </a:rPr>
              <a:t>Top-selling products</a:t>
            </a:r>
            <a:endParaRPr lang="en-US" sz="1300" dirty="0"/>
          </a:p>
        </p:txBody>
      </p:sp>
      <p:sp>
        <p:nvSpPr>
          <p:cNvPr id="12" name="Shape 8"/>
          <p:cNvSpPr/>
          <p:nvPr/>
        </p:nvSpPr>
        <p:spPr>
          <a:xfrm>
            <a:off x="8101584" y="1828800"/>
            <a:ext cx="3639312" cy="1417320"/>
          </a:xfrm>
          <a:prstGeom prst="roundRect">
            <a:avLst>
              <a:gd name="adj" fmla="val 5806"/>
            </a:avLst>
          </a:prstGeom>
          <a:solidFill>
            <a:srgbClr val="FBEFEE"/>
          </a:solidFill>
          <a:ln/>
          <a:effectLst>
            <a:outerShdw sx="100000" sy="100000" kx="0" ky="0" algn="bl" rotWithShape="0" blurRad="101600" dist="38100" dir="2700000">
              <a:srgbClr val="1A1A2E">
                <a:alpha val="12000"/>
              </a:srgbClr>
            </a:outerShdw>
          </a:effectLst>
        </p:spPr>
      </p:sp>
      <p:sp>
        <p:nvSpPr>
          <p:cNvPr id="13" name="Shape 9"/>
          <p:cNvSpPr/>
          <p:nvPr/>
        </p:nvSpPr>
        <p:spPr>
          <a:xfrm>
            <a:off x="8330184" y="2084832"/>
            <a:ext cx="566928" cy="566928"/>
          </a:xfrm>
          <a:prstGeom prst="ellipse">
            <a:avLst/>
          </a:prstGeom>
          <a:solidFill>
            <a:srgbClr val="FFFFFF"/>
          </a:solidFill>
          <a:ln/>
        </p:spPr>
      </p:sp>
      <p:pic>
        <p:nvPicPr>
          <p:cNvPr id="14" name="Image 2" descr="/home/claude/proj/icons/chart_coral.png">    </p:cNvPr>
          <p:cNvPicPr>
            <a:picLocks noChangeAspect="1"/>
          </p:cNvPicPr>
          <p:nvPr/>
        </p:nvPicPr>
        <p:blipFill>
          <a:blip r:embed="rId3"/>
          <a:stretch>
            <a:fillRect/>
          </a:stretch>
        </p:blipFill>
        <p:spPr>
          <a:xfrm>
            <a:off x="8477585" y="2232233"/>
            <a:ext cx="272125" cy="272125"/>
          </a:xfrm>
          <a:prstGeom prst="rect">
            <a:avLst/>
          </a:prstGeom>
        </p:spPr>
      </p:pic>
      <p:sp>
        <p:nvSpPr>
          <p:cNvPr id="15" name="Text 10"/>
          <p:cNvSpPr/>
          <p:nvPr/>
        </p:nvSpPr>
        <p:spPr>
          <a:xfrm>
            <a:off x="9061704" y="2011680"/>
            <a:ext cx="2496312" cy="1005840"/>
          </a:xfrm>
          <a:prstGeom prst="rect">
            <a:avLst/>
          </a:prstGeom>
          <a:noFill/>
          <a:ln/>
        </p:spPr>
        <p:txBody>
          <a:bodyPr wrap="square" lIns="0" tIns="0" rIns="0" bIns="0" rtlCol="0" anchor="ctr"/>
          <a:lstStyle/>
          <a:p>
            <a:pPr indent="0" marL="0">
              <a:buNone/>
            </a:pPr>
            <a:r>
              <a:rPr lang="en-US" sz="1300" b="1" dirty="0">
                <a:solidFill>
                  <a:srgbClr val="24263B"/>
                </a:solidFill>
                <a:latin typeface="Calibri" pitchFamily="34" charset="0"/>
                <a:ea typeface="Calibri" pitchFamily="34" charset="-122"/>
                <a:cs typeface="Calibri" pitchFamily="34" charset="-120"/>
              </a:rPr>
              <a:t>Purchase trends over time</a:t>
            </a:r>
            <a:endParaRPr lang="en-US" sz="1300" dirty="0"/>
          </a:p>
        </p:txBody>
      </p:sp>
      <p:sp>
        <p:nvSpPr>
          <p:cNvPr id="16" name="Shape 11"/>
          <p:cNvSpPr/>
          <p:nvPr/>
        </p:nvSpPr>
        <p:spPr>
          <a:xfrm>
            <a:off x="548640" y="3383280"/>
            <a:ext cx="3639312" cy="1417320"/>
          </a:xfrm>
          <a:prstGeom prst="roundRect">
            <a:avLst>
              <a:gd name="adj" fmla="val 5806"/>
            </a:avLst>
          </a:prstGeom>
          <a:solidFill>
            <a:srgbClr val="F1F3FA"/>
          </a:solidFill>
          <a:ln/>
          <a:effectLst>
            <a:outerShdw sx="100000" sy="100000" kx="0" ky="0" algn="bl" rotWithShape="0" blurRad="101600" dist="38100" dir="2700000">
              <a:srgbClr val="1A1A2E">
                <a:alpha val="12000"/>
              </a:srgbClr>
            </a:outerShdw>
          </a:effectLst>
        </p:spPr>
      </p:sp>
      <p:sp>
        <p:nvSpPr>
          <p:cNvPr id="17" name="Shape 12"/>
          <p:cNvSpPr/>
          <p:nvPr/>
        </p:nvSpPr>
        <p:spPr>
          <a:xfrm>
            <a:off x="777240" y="3639312"/>
            <a:ext cx="566928" cy="566928"/>
          </a:xfrm>
          <a:prstGeom prst="ellipse">
            <a:avLst/>
          </a:prstGeom>
          <a:solidFill>
            <a:srgbClr val="FFFFFF"/>
          </a:solidFill>
          <a:ln/>
        </p:spPr>
      </p:sp>
      <p:pic>
        <p:nvPicPr>
          <p:cNvPr id="18" name="Image 3" descr="/home/claude/proj/icons/coins_coral.png">    </p:cNvPr>
          <p:cNvPicPr>
            <a:picLocks noChangeAspect="1"/>
          </p:cNvPicPr>
          <p:nvPr/>
        </p:nvPicPr>
        <p:blipFill>
          <a:blip r:embed="rId4"/>
          <a:stretch>
            <a:fillRect/>
          </a:stretch>
        </p:blipFill>
        <p:spPr>
          <a:xfrm>
            <a:off x="924641" y="3786713"/>
            <a:ext cx="272125" cy="272125"/>
          </a:xfrm>
          <a:prstGeom prst="rect">
            <a:avLst/>
          </a:prstGeom>
        </p:spPr>
      </p:pic>
      <p:sp>
        <p:nvSpPr>
          <p:cNvPr id="19" name="Text 13"/>
          <p:cNvSpPr/>
          <p:nvPr/>
        </p:nvSpPr>
        <p:spPr>
          <a:xfrm>
            <a:off x="1508760" y="3566160"/>
            <a:ext cx="2496312" cy="1005840"/>
          </a:xfrm>
          <a:prstGeom prst="rect">
            <a:avLst/>
          </a:prstGeom>
          <a:noFill/>
          <a:ln/>
        </p:spPr>
        <p:txBody>
          <a:bodyPr wrap="square" lIns="0" tIns="0" rIns="0" bIns="0" rtlCol="0" anchor="ctr"/>
          <a:lstStyle/>
          <a:p>
            <a:pPr indent="0" marL="0">
              <a:buNone/>
            </a:pPr>
            <a:r>
              <a:rPr lang="en-US" sz="1300" b="1" dirty="0">
                <a:solidFill>
                  <a:srgbClr val="24263B"/>
                </a:solidFill>
                <a:latin typeface="Calibri" pitchFamily="34" charset="0"/>
                <a:ea typeface="Calibri" pitchFamily="34" charset="-122"/>
                <a:cs typeface="Calibri" pitchFamily="34" charset="-120"/>
              </a:rPr>
              <a:t>Monetary distribution per customer</a:t>
            </a:r>
            <a:endParaRPr lang="en-US" sz="1300" dirty="0"/>
          </a:p>
        </p:txBody>
      </p:sp>
      <p:sp>
        <p:nvSpPr>
          <p:cNvPr id="20" name="Shape 14"/>
          <p:cNvSpPr/>
          <p:nvPr/>
        </p:nvSpPr>
        <p:spPr>
          <a:xfrm>
            <a:off x="4325112" y="3383280"/>
            <a:ext cx="3639312" cy="1417320"/>
          </a:xfrm>
          <a:prstGeom prst="roundRect">
            <a:avLst>
              <a:gd name="adj" fmla="val 5806"/>
            </a:avLst>
          </a:prstGeom>
          <a:solidFill>
            <a:srgbClr val="F1F3FA"/>
          </a:solidFill>
          <a:ln/>
          <a:effectLst>
            <a:outerShdw sx="100000" sy="100000" kx="0" ky="0" algn="bl" rotWithShape="0" blurRad="101600" dist="38100" dir="2700000">
              <a:srgbClr val="1A1A2E">
                <a:alpha val="12000"/>
              </a:srgbClr>
            </a:outerShdw>
          </a:effectLst>
        </p:spPr>
      </p:sp>
      <p:sp>
        <p:nvSpPr>
          <p:cNvPr id="21" name="Shape 15"/>
          <p:cNvSpPr/>
          <p:nvPr/>
        </p:nvSpPr>
        <p:spPr>
          <a:xfrm>
            <a:off x="4553712" y="3639312"/>
            <a:ext cx="566928" cy="566928"/>
          </a:xfrm>
          <a:prstGeom prst="ellipse">
            <a:avLst/>
          </a:prstGeom>
          <a:solidFill>
            <a:srgbClr val="FFFFFF"/>
          </a:solidFill>
          <a:ln/>
        </p:spPr>
      </p:sp>
      <p:pic>
        <p:nvPicPr>
          <p:cNvPr id="22" name="Image 4" descr="/home/claude/proj/icons/layer_w.png">    </p:cNvPr>
          <p:cNvPicPr>
            <a:picLocks noChangeAspect="1"/>
          </p:cNvPicPr>
          <p:nvPr/>
        </p:nvPicPr>
        <p:blipFill>
          <a:blip r:embed="rId5"/>
          <a:stretch>
            <a:fillRect/>
          </a:stretch>
        </p:blipFill>
        <p:spPr>
          <a:xfrm>
            <a:off x="4701113" y="3786713"/>
            <a:ext cx="272125" cy="272125"/>
          </a:xfrm>
          <a:prstGeom prst="rect">
            <a:avLst/>
          </a:prstGeom>
        </p:spPr>
      </p:pic>
      <p:sp>
        <p:nvSpPr>
          <p:cNvPr id="23" name="Text 16"/>
          <p:cNvSpPr/>
          <p:nvPr/>
        </p:nvSpPr>
        <p:spPr>
          <a:xfrm>
            <a:off x="5285232" y="3566160"/>
            <a:ext cx="2496312" cy="1005840"/>
          </a:xfrm>
          <a:prstGeom prst="rect">
            <a:avLst/>
          </a:prstGeom>
          <a:noFill/>
          <a:ln/>
        </p:spPr>
        <p:txBody>
          <a:bodyPr wrap="square" lIns="0" tIns="0" rIns="0" bIns="0" rtlCol="0" anchor="ctr"/>
          <a:lstStyle/>
          <a:p>
            <a:pPr indent="0" marL="0">
              <a:buNone/>
            </a:pPr>
            <a:r>
              <a:rPr lang="en-US" sz="1300" b="1" dirty="0">
                <a:solidFill>
                  <a:srgbClr val="24263B"/>
                </a:solidFill>
                <a:latin typeface="Calibri" pitchFamily="34" charset="0"/>
                <a:ea typeface="Calibri" pitchFamily="34" charset="-122"/>
                <a:cs typeface="Calibri" pitchFamily="34" charset="-120"/>
              </a:rPr>
              <a:t>RFM value distributions</a:t>
            </a:r>
            <a:endParaRPr lang="en-US" sz="1300" dirty="0"/>
          </a:p>
        </p:txBody>
      </p:sp>
      <p:sp>
        <p:nvSpPr>
          <p:cNvPr id="24" name="Shape 17"/>
          <p:cNvSpPr/>
          <p:nvPr/>
        </p:nvSpPr>
        <p:spPr>
          <a:xfrm>
            <a:off x="8101584" y="3383280"/>
            <a:ext cx="3639312" cy="1417320"/>
          </a:xfrm>
          <a:prstGeom prst="roundRect">
            <a:avLst>
              <a:gd name="adj" fmla="val 5806"/>
            </a:avLst>
          </a:prstGeom>
          <a:solidFill>
            <a:srgbClr val="F1F3FA"/>
          </a:solidFill>
          <a:ln/>
          <a:effectLst>
            <a:outerShdw sx="100000" sy="100000" kx="0" ky="0" algn="bl" rotWithShape="0" blurRad="101600" dist="38100" dir="2700000">
              <a:srgbClr val="1A1A2E">
                <a:alpha val="12000"/>
              </a:srgbClr>
            </a:outerShdw>
          </a:effectLst>
        </p:spPr>
      </p:sp>
      <p:sp>
        <p:nvSpPr>
          <p:cNvPr id="25" name="Shape 18"/>
          <p:cNvSpPr/>
          <p:nvPr/>
        </p:nvSpPr>
        <p:spPr>
          <a:xfrm>
            <a:off x="8330184" y="3639312"/>
            <a:ext cx="566928" cy="566928"/>
          </a:xfrm>
          <a:prstGeom prst="ellipse">
            <a:avLst/>
          </a:prstGeom>
          <a:solidFill>
            <a:srgbClr val="FFFFFF"/>
          </a:solidFill>
          <a:ln/>
        </p:spPr>
      </p:sp>
      <p:pic>
        <p:nvPicPr>
          <p:cNvPr id="26" name="Image 5" descr="/home/claude/proj/icons/grid_w.png">    </p:cNvPr>
          <p:cNvPicPr>
            <a:picLocks noChangeAspect="1"/>
          </p:cNvPicPr>
          <p:nvPr/>
        </p:nvPicPr>
        <p:blipFill>
          <a:blip r:embed="rId6"/>
          <a:stretch>
            <a:fillRect/>
          </a:stretch>
        </p:blipFill>
        <p:spPr>
          <a:xfrm>
            <a:off x="8477585" y="3786713"/>
            <a:ext cx="272125" cy="272125"/>
          </a:xfrm>
          <a:prstGeom prst="rect">
            <a:avLst/>
          </a:prstGeom>
        </p:spPr>
      </p:pic>
      <p:sp>
        <p:nvSpPr>
          <p:cNvPr id="27" name="Text 19"/>
          <p:cNvSpPr/>
          <p:nvPr/>
        </p:nvSpPr>
        <p:spPr>
          <a:xfrm>
            <a:off x="9061704" y="3566160"/>
            <a:ext cx="2496312" cy="1005840"/>
          </a:xfrm>
          <a:prstGeom prst="rect">
            <a:avLst/>
          </a:prstGeom>
          <a:noFill/>
          <a:ln/>
        </p:spPr>
        <p:txBody>
          <a:bodyPr wrap="square" lIns="0" tIns="0" rIns="0" bIns="0" rtlCol="0" anchor="ctr"/>
          <a:lstStyle/>
          <a:p>
            <a:pPr indent="0" marL="0">
              <a:buNone/>
            </a:pPr>
            <a:r>
              <a:rPr lang="en-US" sz="1300" b="1" dirty="0">
                <a:solidFill>
                  <a:srgbClr val="24263B"/>
                </a:solidFill>
                <a:latin typeface="Calibri" pitchFamily="34" charset="0"/>
                <a:ea typeface="Calibri" pitchFamily="34" charset="-122"/>
                <a:cs typeface="Calibri" pitchFamily="34" charset="-120"/>
              </a:rPr>
              <a:t>Elbow curve for cluster selection</a:t>
            </a:r>
            <a:endParaRPr lang="en-US" sz="1300" dirty="0"/>
          </a:p>
        </p:txBody>
      </p:sp>
      <p:sp>
        <p:nvSpPr>
          <p:cNvPr id="28" name="Text 20"/>
          <p:cNvSpPr/>
          <p:nvPr/>
        </p:nvSpPr>
        <p:spPr>
          <a:xfrm>
            <a:off x="457200" y="6473952"/>
            <a:ext cx="3657600" cy="274320"/>
          </a:xfrm>
          <a:prstGeom prst="rect">
            <a:avLst/>
          </a:prstGeom>
          <a:noFill/>
          <a:ln/>
        </p:spPr>
        <p:txBody>
          <a:bodyPr wrap="square" lIns="0" tIns="0" rIns="0" bIns="0" rtlCol="0" anchor="ctr"/>
          <a:lstStyle/>
          <a:p>
            <a:pPr indent="0" marL="0">
              <a:buNone/>
            </a:pPr>
            <a:r>
              <a:rPr lang="en-US" sz="900" spc="200" kern="0" dirty="0">
                <a:solidFill>
                  <a:srgbClr val="6B7186"/>
                </a:solidFill>
                <a:latin typeface="Calibri" pitchFamily="34" charset="0"/>
                <a:ea typeface="Calibri" pitchFamily="34" charset="-122"/>
                <a:cs typeface="Calibri" pitchFamily="34" charset="-120"/>
              </a:rPr>
              <a:t>SHOPPER SPECTRUM</a:t>
            </a:r>
            <a:endParaRPr lang="en-US" sz="900" dirty="0"/>
          </a:p>
        </p:txBody>
      </p:sp>
      <p:sp>
        <p:nvSpPr>
          <p:cNvPr id="29" name="Text 21"/>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718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3FA"/>
        </a:solidFill>
      </p:bgPr>
    </p:bg>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lIns="0" tIns="0" rIns="0" bIns="0"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06  FEATURE ENGINEERING</a:t>
            </a:r>
            <a:endParaRPr lang="en-US" sz="1200" dirty="0"/>
          </a:p>
        </p:txBody>
      </p:sp>
      <p:sp>
        <p:nvSpPr>
          <p:cNvPr id="3" name="Text 1"/>
          <p:cNvSpPr/>
          <p:nvPr/>
        </p:nvSpPr>
        <p:spPr>
          <a:xfrm>
            <a:off x="548640" y="777240"/>
            <a:ext cx="9144000" cy="640080"/>
          </a:xfrm>
          <a:prstGeom prst="rect">
            <a:avLst/>
          </a:prstGeom>
          <a:noFill/>
          <a:ln/>
        </p:spPr>
        <p:txBody>
          <a:bodyPr wrap="square" lIns="0" tIns="0" rIns="0" bIns="0" rtlCol="0" anchor="ctr"/>
          <a:lstStyle/>
          <a:p>
            <a:pPr indent="0" marL="0">
              <a:buNone/>
            </a:pPr>
            <a:r>
              <a:rPr lang="en-US" sz="3000" b="1" dirty="0">
                <a:solidFill>
                  <a:srgbClr val="24263B"/>
                </a:solidFill>
                <a:latin typeface="Cambria" pitchFamily="34" charset="0"/>
                <a:ea typeface="Cambria" pitchFamily="34" charset="-122"/>
                <a:cs typeface="Cambria" pitchFamily="34" charset="-120"/>
              </a:rPr>
              <a:t>Building the RFM Feature Set</a:t>
            </a:r>
            <a:endParaRPr lang="en-US" sz="3000" dirty="0"/>
          </a:p>
        </p:txBody>
      </p:sp>
      <p:sp>
        <p:nvSpPr>
          <p:cNvPr id="4" name="Shape 2"/>
          <p:cNvSpPr/>
          <p:nvPr/>
        </p:nvSpPr>
        <p:spPr>
          <a:xfrm>
            <a:off x="548640" y="1691640"/>
            <a:ext cx="3611880" cy="1965960"/>
          </a:xfrm>
          <a:prstGeom prst="roundRect">
            <a:avLst>
              <a:gd name="adj" fmla="val 4651"/>
            </a:avLst>
          </a:prstGeom>
          <a:solidFill>
            <a:srgbClr val="FFFFFF"/>
          </a:solidFill>
          <a:ln/>
          <a:effectLst>
            <a:outerShdw sx="100000" sy="100000" kx="0" ky="0" algn="bl" rotWithShape="0" blurRad="101600" dist="38100" dir="2700000">
              <a:srgbClr val="1A1A2E">
                <a:alpha val="12000"/>
              </a:srgbClr>
            </a:outerShdw>
          </a:effectLst>
        </p:spPr>
      </p:sp>
      <p:sp>
        <p:nvSpPr>
          <p:cNvPr id="5" name="Shape 3"/>
          <p:cNvSpPr/>
          <p:nvPr/>
        </p:nvSpPr>
        <p:spPr>
          <a:xfrm>
            <a:off x="822960" y="1965960"/>
            <a:ext cx="685800" cy="685800"/>
          </a:xfrm>
          <a:prstGeom prst="ellipse">
            <a:avLst/>
          </a:prstGeom>
          <a:solidFill>
            <a:srgbClr val="FBEFEE"/>
          </a:solidFill>
          <a:ln/>
        </p:spPr>
      </p:sp>
      <p:pic>
        <p:nvPicPr>
          <p:cNvPr id="6" name="Image 0" descr="/home/claude/proj/icons/clock_coral.png">    </p:cNvPr>
          <p:cNvPicPr>
            <a:picLocks noChangeAspect="1"/>
          </p:cNvPicPr>
          <p:nvPr/>
        </p:nvPicPr>
        <p:blipFill>
          <a:blip r:embed="rId1"/>
          <a:stretch>
            <a:fillRect/>
          </a:stretch>
        </p:blipFill>
        <p:spPr>
          <a:xfrm>
            <a:off x="1001268" y="2144268"/>
            <a:ext cx="329184" cy="329184"/>
          </a:xfrm>
          <a:prstGeom prst="rect">
            <a:avLst/>
          </a:prstGeom>
        </p:spPr>
      </p:pic>
      <p:sp>
        <p:nvSpPr>
          <p:cNvPr id="7" name="Text 4"/>
          <p:cNvSpPr/>
          <p:nvPr/>
        </p:nvSpPr>
        <p:spPr>
          <a:xfrm>
            <a:off x="822960" y="2834640"/>
            <a:ext cx="3063240" cy="365760"/>
          </a:xfrm>
          <a:prstGeom prst="rect">
            <a:avLst/>
          </a:prstGeom>
          <a:noFill/>
          <a:ln/>
        </p:spPr>
        <p:txBody>
          <a:bodyPr wrap="square" lIns="0" tIns="0" rIns="0" bIns="0" rtlCol="0" anchor="ctr"/>
          <a:lstStyle/>
          <a:p>
            <a:pPr indent="0" marL="0">
              <a:buNone/>
            </a:pPr>
            <a:r>
              <a:rPr lang="en-US" sz="1700" b="1" dirty="0">
                <a:solidFill>
                  <a:srgbClr val="2F3C7E"/>
                </a:solidFill>
                <a:latin typeface="Calibri" pitchFamily="34" charset="0"/>
                <a:ea typeface="Calibri" pitchFamily="34" charset="-122"/>
                <a:cs typeface="Calibri" pitchFamily="34" charset="-120"/>
              </a:rPr>
              <a:t>Recency (R)</a:t>
            </a:r>
            <a:endParaRPr lang="en-US" sz="1700" dirty="0"/>
          </a:p>
        </p:txBody>
      </p:sp>
      <p:sp>
        <p:nvSpPr>
          <p:cNvPr id="8" name="Text 5"/>
          <p:cNvSpPr/>
          <p:nvPr/>
        </p:nvSpPr>
        <p:spPr>
          <a:xfrm>
            <a:off x="822960" y="3218688"/>
            <a:ext cx="3063240" cy="411480"/>
          </a:xfrm>
          <a:prstGeom prst="rect">
            <a:avLst/>
          </a:prstGeom>
          <a:noFill/>
          <a:ln/>
        </p:spPr>
        <p:txBody>
          <a:bodyPr wrap="square" lIns="0" tIns="0" rIns="0" bIns="0" rtlCol="0" anchor="t"/>
          <a:lstStyle/>
          <a:p>
            <a:pPr indent="0" marL="0">
              <a:buNone/>
            </a:pPr>
            <a:r>
              <a:rPr lang="en-US" sz="1100" dirty="0">
                <a:solidFill>
                  <a:srgbClr val="6B7186"/>
                </a:solidFill>
                <a:latin typeface="Calibri" pitchFamily="34" charset="0"/>
                <a:ea typeface="Calibri" pitchFamily="34" charset="-122"/>
                <a:cs typeface="Calibri" pitchFamily="34" charset="-120"/>
              </a:rPr>
              <a:t>Days since the customer's last purchase, measured against the latest date in the dataset.</a:t>
            </a:r>
            <a:endParaRPr lang="en-US" sz="1100" dirty="0"/>
          </a:p>
        </p:txBody>
      </p:sp>
      <p:sp>
        <p:nvSpPr>
          <p:cNvPr id="9" name="Shape 6"/>
          <p:cNvSpPr/>
          <p:nvPr/>
        </p:nvSpPr>
        <p:spPr>
          <a:xfrm>
            <a:off x="4343400" y="1691640"/>
            <a:ext cx="3611880" cy="1965960"/>
          </a:xfrm>
          <a:prstGeom prst="roundRect">
            <a:avLst>
              <a:gd name="adj" fmla="val 4651"/>
            </a:avLst>
          </a:prstGeom>
          <a:solidFill>
            <a:srgbClr val="FFFFFF"/>
          </a:solidFill>
          <a:ln/>
          <a:effectLst>
            <a:outerShdw sx="100000" sy="100000" kx="0" ky="0" algn="bl" rotWithShape="0" blurRad="101600" dist="38100" dir="2700000">
              <a:srgbClr val="1A1A2E">
                <a:alpha val="12000"/>
              </a:srgbClr>
            </a:outerShdw>
          </a:effectLst>
        </p:spPr>
      </p:sp>
      <p:sp>
        <p:nvSpPr>
          <p:cNvPr id="10" name="Shape 7"/>
          <p:cNvSpPr/>
          <p:nvPr/>
        </p:nvSpPr>
        <p:spPr>
          <a:xfrm>
            <a:off x="4617720" y="1965960"/>
            <a:ext cx="685800" cy="685800"/>
          </a:xfrm>
          <a:prstGeom prst="ellipse">
            <a:avLst/>
          </a:prstGeom>
          <a:solidFill>
            <a:srgbClr val="FBEFEE"/>
          </a:solidFill>
          <a:ln/>
        </p:spPr>
      </p:sp>
      <p:pic>
        <p:nvPicPr>
          <p:cNvPr id="11" name="Image 1" descr="/home/claude/proj/icons/chart_coral.png">    </p:cNvPr>
          <p:cNvPicPr>
            <a:picLocks noChangeAspect="1"/>
          </p:cNvPicPr>
          <p:nvPr/>
        </p:nvPicPr>
        <p:blipFill>
          <a:blip r:embed="rId2"/>
          <a:stretch>
            <a:fillRect/>
          </a:stretch>
        </p:blipFill>
        <p:spPr>
          <a:xfrm>
            <a:off x="4796028" y="2144268"/>
            <a:ext cx="329184" cy="329184"/>
          </a:xfrm>
          <a:prstGeom prst="rect">
            <a:avLst/>
          </a:prstGeom>
        </p:spPr>
      </p:pic>
      <p:sp>
        <p:nvSpPr>
          <p:cNvPr id="12" name="Text 8"/>
          <p:cNvSpPr/>
          <p:nvPr/>
        </p:nvSpPr>
        <p:spPr>
          <a:xfrm>
            <a:off x="4617720" y="2834640"/>
            <a:ext cx="3063240" cy="365760"/>
          </a:xfrm>
          <a:prstGeom prst="rect">
            <a:avLst/>
          </a:prstGeom>
          <a:noFill/>
          <a:ln/>
        </p:spPr>
        <p:txBody>
          <a:bodyPr wrap="square" lIns="0" tIns="0" rIns="0" bIns="0" rtlCol="0" anchor="ctr"/>
          <a:lstStyle/>
          <a:p>
            <a:pPr indent="0" marL="0">
              <a:buNone/>
            </a:pPr>
            <a:r>
              <a:rPr lang="en-US" sz="1700" b="1" dirty="0">
                <a:solidFill>
                  <a:srgbClr val="2F3C7E"/>
                </a:solidFill>
                <a:latin typeface="Calibri" pitchFamily="34" charset="0"/>
                <a:ea typeface="Calibri" pitchFamily="34" charset="-122"/>
                <a:cs typeface="Calibri" pitchFamily="34" charset="-120"/>
              </a:rPr>
              <a:t>Frequency (F)</a:t>
            </a:r>
            <a:endParaRPr lang="en-US" sz="1700" dirty="0"/>
          </a:p>
        </p:txBody>
      </p:sp>
      <p:sp>
        <p:nvSpPr>
          <p:cNvPr id="13" name="Text 9"/>
          <p:cNvSpPr/>
          <p:nvPr/>
        </p:nvSpPr>
        <p:spPr>
          <a:xfrm>
            <a:off x="4617720" y="3218688"/>
            <a:ext cx="3063240" cy="411480"/>
          </a:xfrm>
          <a:prstGeom prst="rect">
            <a:avLst/>
          </a:prstGeom>
          <a:noFill/>
          <a:ln/>
        </p:spPr>
        <p:txBody>
          <a:bodyPr wrap="square" lIns="0" tIns="0" rIns="0" bIns="0" rtlCol="0" anchor="t"/>
          <a:lstStyle/>
          <a:p>
            <a:pPr indent="0" marL="0">
              <a:buNone/>
            </a:pPr>
            <a:r>
              <a:rPr lang="en-US" sz="1100" dirty="0">
                <a:solidFill>
                  <a:srgbClr val="6B7186"/>
                </a:solidFill>
                <a:latin typeface="Calibri" pitchFamily="34" charset="0"/>
                <a:ea typeface="Calibri" pitchFamily="34" charset="-122"/>
                <a:cs typeface="Calibri" pitchFamily="34" charset="-120"/>
              </a:rPr>
              <a:t>Total number of transactions made by the customer.</a:t>
            </a:r>
            <a:endParaRPr lang="en-US" sz="1100" dirty="0"/>
          </a:p>
        </p:txBody>
      </p:sp>
      <p:sp>
        <p:nvSpPr>
          <p:cNvPr id="14" name="Shape 10"/>
          <p:cNvSpPr/>
          <p:nvPr/>
        </p:nvSpPr>
        <p:spPr>
          <a:xfrm>
            <a:off x="8138160" y="1691640"/>
            <a:ext cx="3611880" cy="1965960"/>
          </a:xfrm>
          <a:prstGeom prst="roundRect">
            <a:avLst>
              <a:gd name="adj" fmla="val 4651"/>
            </a:avLst>
          </a:prstGeom>
          <a:solidFill>
            <a:srgbClr val="FFFFFF"/>
          </a:solidFill>
          <a:ln/>
          <a:effectLst>
            <a:outerShdw sx="100000" sy="100000" kx="0" ky="0" algn="bl" rotWithShape="0" blurRad="101600" dist="38100" dir="2700000">
              <a:srgbClr val="1A1A2E">
                <a:alpha val="12000"/>
              </a:srgbClr>
            </a:outerShdw>
          </a:effectLst>
        </p:spPr>
      </p:sp>
      <p:sp>
        <p:nvSpPr>
          <p:cNvPr id="15" name="Shape 11"/>
          <p:cNvSpPr/>
          <p:nvPr/>
        </p:nvSpPr>
        <p:spPr>
          <a:xfrm>
            <a:off x="8412480" y="1965960"/>
            <a:ext cx="685800" cy="685800"/>
          </a:xfrm>
          <a:prstGeom prst="ellipse">
            <a:avLst/>
          </a:prstGeom>
          <a:solidFill>
            <a:srgbClr val="FBEFEE"/>
          </a:solidFill>
          <a:ln/>
        </p:spPr>
      </p:sp>
      <p:pic>
        <p:nvPicPr>
          <p:cNvPr id="16" name="Image 2" descr="/home/claude/proj/icons/coins_coral.png">    </p:cNvPr>
          <p:cNvPicPr>
            <a:picLocks noChangeAspect="1"/>
          </p:cNvPicPr>
          <p:nvPr/>
        </p:nvPicPr>
        <p:blipFill>
          <a:blip r:embed="rId3"/>
          <a:stretch>
            <a:fillRect/>
          </a:stretch>
        </p:blipFill>
        <p:spPr>
          <a:xfrm>
            <a:off x="8590788" y="2144268"/>
            <a:ext cx="329184" cy="329184"/>
          </a:xfrm>
          <a:prstGeom prst="rect">
            <a:avLst/>
          </a:prstGeom>
        </p:spPr>
      </p:pic>
      <p:sp>
        <p:nvSpPr>
          <p:cNvPr id="17" name="Text 12"/>
          <p:cNvSpPr/>
          <p:nvPr/>
        </p:nvSpPr>
        <p:spPr>
          <a:xfrm>
            <a:off x="8412480" y="2834640"/>
            <a:ext cx="3063240" cy="365760"/>
          </a:xfrm>
          <a:prstGeom prst="rect">
            <a:avLst/>
          </a:prstGeom>
          <a:noFill/>
          <a:ln/>
        </p:spPr>
        <p:txBody>
          <a:bodyPr wrap="square" lIns="0" tIns="0" rIns="0" bIns="0" rtlCol="0" anchor="ctr"/>
          <a:lstStyle/>
          <a:p>
            <a:pPr indent="0" marL="0">
              <a:buNone/>
            </a:pPr>
            <a:r>
              <a:rPr lang="en-US" sz="1700" b="1" dirty="0">
                <a:solidFill>
                  <a:srgbClr val="2F3C7E"/>
                </a:solidFill>
                <a:latin typeface="Calibri" pitchFamily="34" charset="0"/>
                <a:ea typeface="Calibri" pitchFamily="34" charset="-122"/>
                <a:cs typeface="Calibri" pitchFamily="34" charset="-120"/>
              </a:rPr>
              <a:t>Monetary (M)</a:t>
            </a:r>
            <a:endParaRPr lang="en-US" sz="1700" dirty="0"/>
          </a:p>
        </p:txBody>
      </p:sp>
      <p:sp>
        <p:nvSpPr>
          <p:cNvPr id="18" name="Text 13"/>
          <p:cNvSpPr/>
          <p:nvPr/>
        </p:nvSpPr>
        <p:spPr>
          <a:xfrm>
            <a:off x="8412480" y="3218688"/>
            <a:ext cx="3063240" cy="411480"/>
          </a:xfrm>
          <a:prstGeom prst="rect">
            <a:avLst/>
          </a:prstGeom>
          <a:noFill/>
          <a:ln/>
        </p:spPr>
        <p:txBody>
          <a:bodyPr wrap="square" lIns="0" tIns="0" rIns="0" bIns="0" rtlCol="0" anchor="t"/>
          <a:lstStyle/>
          <a:p>
            <a:pPr indent="0" marL="0">
              <a:buNone/>
            </a:pPr>
            <a:r>
              <a:rPr lang="en-US" sz="1100" dirty="0">
                <a:solidFill>
                  <a:srgbClr val="6B7186"/>
                </a:solidFill>
                <a:latin typeface="Calibri" pitchFamily="34" charset="0"/>
                <a:ea typeface="Calibri" pitchFamily="34" charset="-122"/>
                <a:cs typeface="Calibri" pitchFamily="34" charset="-120"/>
              </a:rPr>
              <a:t>Total amount spent by the customer across all transactions.</a:t>
            </a:r>
            <a:endParaRPr lang="en-US" sz="1100" dirty="0"/>
          </a:p>
        </p:txBody>
      </p:sp>
      <p:sp>
        <p:nvSpPr>
          <p:cNvPr id="19" name="Text 14"/>
          <p:cNvSpPr/>
          <p:nvPr/>
        </p:nvSpPr>
        <p:spPr>
          <a:xfrm>
            <a:off x="548640" y="3977640"/>
            <a:ext cx="11064240" cy="457200"/>
          </a:xfrm>
          <a:prstGeom prst="rect">
            <a:avLst/>
          </a:prstGeom>
          <a:noFill/>
          <a:ln/>
        </p:spPr>
        <p:txBody>
          <a:bodyPr wrap="square" lIns="0" tIns="0" rIns="0" bIns="0" rtlCol="0" anchor="ctr"/>
          <a:lstStyle/>
          <a:p>
            <a:pPr indent="0" marL="0">
              <a:buNone/>
            </a:pPr>
            <a:r>
              <a:rPr lang="en-US" sz="1300" i="1" dirty="0">
                <a:solidFill>
                  <a:srgbClr val="2F3C7E"/>
                </a:solidFill>
                <a:latin typeface="Calibri" pitchFamily="34" charset="0"/>
                <a:ea typeface="Calibri" pitchFamily="34" charset="-122"/>
                <a:cs typeface="Calibri" pitchFamily="34" charset="-120"/>
              </a:rPr>
              <a:t>Pipeline: Standardize RFM values  →  Elbow Method + Silhouette Score  →  Run K-Means  →  Label &amp; Visualize Clusters</a:t>
            </a:r>
            <a:endParaRPr lang="en-US" sz="1300" dirty="0"/>
          </a:p>
        </p:txBody>
      </p:sp>
      <p:sp>
        <p:nvSpPr>
          <p:cNvPr id="20" name="Shape 15"/>
          <p:cNvSpPr/>
          <p:nvPr/>
        </p:nvSpPr>
        <p:spPr>
          <a:xfrm>
            <a:off x="548640" y="4572000"/>
            <a:ext cx="2697480" cy="594360"/>
          </a:xfrm>
          <a:prstGeom prst="roundRect">
            <a:avLst>
              <a:gd name="adj" fmla="val 49231"/>
            </a:avLst>
          </a:prstGeom>
          <a:solidFill>
            <a:srgbClr val="2F3C7E"/>
          </a:solidFill>
          <a:ln/>
        </p:spPr>
      </p:sp>
      <p:sp>
        <p:nvSpPr>
          <p:cNvPr id="21" name="Text 16"/>
          <p:cNvSpPr/>
          <p:nvPr/>
        </p:nvSpPr>
        <p:spPr>
          <a:xfrm>
            <a:off x="548640" y="4572000"/>
            <a:ext cx="269748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Standardize</a:t>
            </a:r>
            <a:endParaRPr lang="en-US" sz="1200" dirty="0"/>
          </a:p>
        </p:txBody>
      </p:sp>
      <p:sp>
        <p:nvSpPr>
          <p:cNvPr id="22" name="Shape 17"/>
          <p:cNvSpPr/>
          <p:nvPr/>
        </p:nvSpPr>
        <p:spPr>
          <a:xfrm>
            <a:off x="3383280" y="4572000"/>
            <a:ext cx="2697480" cy="594360"/>
          </a:xfrm>
          <a:prstGeom prst="roundRect">
            <a:avLst>
              <a:gd name="adj" fmla="val 49231"/>
            </a:avLst>
          </a:prstGeom>
          <a:solidFill>
            <a:srgbClr val="F96167"/>
          </a:solidFill>
          <a:ln/>
        </p:spPr>
      </p:sp>
      <p:sp>
        <p:nvSpPr>
          <p:cNvPr id="23" name="Text 18"/>
          <p:cNvSpPr/>
          <p:nvPr/>
        </p:nvSpPr>
        <p:spPr>
          <a:xfrm>
            <a:off x="3383280" y="4572000"/>
            <a:ext cx="269748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Elbow / Silhouette</a:t>
            </a:r>
            <a:endParaRPr lang="en-US" sz="1200" dirty="0"/>
          </a:p>
        </p:txBody>
      </p:sp>
      <p:sp>
        <p:nvSpPr>
          <p:cNvPr id="24" name="Shape 19"/>
          <p:cNvSpPr/>
          <p:nvPr/>
        </p:nvSpPr>
        <p:spPr>
          <a:xfrm>
            <a:off x="6217920" y="4572000"/>
            <a:ext cx="2697480" cy="594360"/>
          </a:xfrm>
          <a:prstGeom prst="roundRect">
            <a:avLst>
              <a:gd name="adj" fmla="val 49231"/>
            </a:avLst>
          </a:prstGeom>
          <a:solidFill>
            <a:srgbClr val="2F3C7E"/>
          </a:solidFill>
          <a:ln/>
        </p:spPr>
      </p:sp>
      <p:sp>
        <p:nvSpPr>
          <p:cNvPr id="25" name="Text 20"/>
          <p:cNvSpPr/>
          <p:nvPr/>
        </p:nvSpPr>
        <p:spPr>
          <a:xfrm>
            <a:off x="6217920" y="4572000"/>
            <a:ext cx="269748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K-Means Fit</a:t>
            </a:r>
            <a:endParaRPr lang="en-US" sz="1200" dirty="0"/>
          </a:p>
        </p:txBody>
      </p:sp>
      <p:sp>
        <p:nvSpPr>
          <p:cNvPr id="26" name="Shape 21"/>
          <p:cNvSpPr/>
          <p:nvPr/>
        </p:nvSpPr>
        <p:spPr>
          <a:xfrm>
            <a:off x="9052560" y="4572000"/>
            <a:ext cx="2697480" cy="594360"/>
          </a:xfrm>
          <a:prstGeom prst="roundRect">
            <a:avLst>
              <a:gd name="adj" fmla="val 49231"/>
            </a:avLst>
          </a:prstGeom>
          <a:solidFill>
            <a:srgbClr val="F96167"/>
          </a:solidFill>
          <a:ln/>
        </p:spPr>
      </p:sp>
      <p:sp>
        <p:nvSpPr>
          <p:cNvPr id="27" name="Text 22"/>
          <p:cNvSpPr/>
          <p:nvPr/>
        </p:nvSpPr>
        <p:spPr>
          <a:xfrm>
            <a:off x="9052560" y="4572000"/>
            <a:ext cx="269748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Cluster Labels</a:t>
            </a:r>
            <a:endParaRPr lang="en-US" sz="1200" dirty="0"/>
          </a:p>
        </p:txBody>
      </p:sp>
      <p:sp>
        <p:nvSpPr>
          <p:cNvPr id="28" name="Text 23"/>
          <p:cNvSpPr/>
          <p:nvPr/>
        </p:nvSpPr>
        <p:spPr>
          <a:xfrm>
            <a:off x="457200" y="6473952"/>
            <a:ext cx="3657600" cy="274320"/>
          </a:xfrm>
          <a:prstGeom prst="rect">
            <a:avLst/>
          </a:prstGeom>
          <a:noFill/>
          <a:ln/>
        </p:spPr>
        <p:txBody>
          <a:bodyPr wrap="square" lIns="0" tIns="0" rIns="0" bIns="0" rtlCol="0" anchor="ctr"/>
          <a:lstStyle/>
          <a:p>
            <a:pPr indent="0" marL="0">
              <a:buNone/>
            </a:pPr>
            <a:r>
              <a:rPr lang="en-US" sz="900" spc="200" kern="0" dirty="0">
                <a:solidFill>
                  <a:srgbClr val="6B7186"/>
                </a:solidFill>
                <a:latin typeface="Calibri" pitchFamily="34" charset="0"/>
                <a:ea typeface="Calibri" pitchFamily="34" charset="-122"/>
                <a:cs typeface="Calibri" pitchFamily="34" charset="-120"/>
              </a:rPr>
              <a:t>SHOPPER SPECTRUM</a:t>
            </a:r>
            <a:endParaRPr lang="en-US" sz="900" dirty="0"/>
          </a:p>
        </p:txBody>
      </p:sp>
      <p:sp>
        <p:nvSpPr>
          <p:cNvPr id="29" name="Text 24"/>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718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lIns="0" tIns="0" rIns="0" bIns="0"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07  CUSTOMER SEGMENTATION</a:t>
            </a:r>
            <a:endParaRPr lang="en-US" sz="1200" dirty="0"/>
          </a:p>
        </p:txBody>
      </p:sp>
      <p:sp>
        <p:nvSpPr>
          <p:cNvPr id="3" name="Text 1"/>
          <p:cNvSpPr/>
          <p:nvPr/>
        </p:nvSpPr>
        <p:spPr>
          <a:xfrm>
            <a:off x="548640" y="777240"/>
            <a:ext cx="10058400" cy="640080"/>
          </a:xfrm>
          <a:prstGeom prst="rect">
            <a:avLst/>
          </a:prstGeom>
          <a:noFill/>
          <a:ln/>
        </p:spPr>
        <p:txBody>
          <a:bodyPr wrap="square" lIns="0" tIns="0" rIns="0" bIns="0" rtlCol="0" anchor="ctr"/>
          <a:lstStyle/>
          <a:p>
            <a:pPr indent="0" marL="0">
              <a:buNone/>
            </a:pPr>
            <a:r>
              <a:rPr lang="en-US" sz="2700" b="1" dirty="0">
                <a:solidFill>
                  <a:srgbClr val="24263B"/>
                </a:solidFill>
                <a:latin typeface="Cambria" pitchFamily="34" charset="0"/>
                <a:ea typeface="Cambria" pitchFamily="34" charset="-122"/>
                <a:cs typeface="Cambria" pitchFamily="34" charset="-120"/>
              </a:rPr>
              <a:t>Four Customer Segments from RFM Clustering</a:t>
            </a:r>
            <a:endParaRPr lang="en-US" sz="2700" dirty="0"/>
          </a:p>
        </p:txBody>
      </p:sp>
      <p:sp>
        <p:nvSpPr>
          <p:cNvPr id="4" name="Shape 2"/>
          <p:cNvSpPr/>
          <p:nvPr/>
        </p:nvSpPr>
        <p:spPr>
          <a:xfrm>
            <a:off x="548640" y="1691640"/>
            <a:ext cx="2724912" cy="3017520"/>
          </a:xfrm>
          <a:prstGeom prst="roundRect">
            <a:avLst>
              <a:gd name="adj" fmla="val 3356"/>
            </a:avLst>
          </a:prstGeom>
          <a:solidFill>
            <a:srgbClr val="F1F3FA"/>
          </a:solidFill>
          <a:ln/>
          <a:effectLst>
            <a:outerShdw sx="100000" sy="100000" kx="0" ky="0" algn="bl" rotWithShape="0" blurRad="101600" dist="38100" dir="2700000">
              <a:srgbClr val="1A1A2E">
                <a:alpha val="12000"/>
              </a:srgbClr>
            </a:outerShdw>
          </a:effectLst>
        </p:spPr>
      </p:sp>
      <p:sp>
        <p:nvSpPr>
          <p:cNvPr id="5" name="Shape 3"/>
          <p:cNvSpPr/>
          <p:nvPr/>
        </p:nvSpPr>
        <p:spPr>
          <a:xfrm>
            <a:off x="548640" y="1691640"/>
            <a:ext cx="2724912" cy="457200"/>
          </a:xfrm>
          <a:prstGeom prst="roundRect">
            <a:avLst>
              <a:gd name="adj" fmla="val 20000"/>
            </a:avLst>
          </a:prstGeom>
          <a:solidFill>
            <a:srgbClr val="F96167"/>
          </a:solidFill>
          <a:ln/>
        </p:spPr>
      </p:sp>
      <p:sp>
        <p:nvSpPr>
          <p:cNvPr id="6" name="Shape 4"/>
          <p:cNvSpPr/>
          <p:nvPr/>
        </p:nvSpPr>
        <p:spPr>
          <a:xfrm>
            <a:off x="548640" y="1965960"/>
            <a:ext cx="2724912" cy="182880"/>
          </a:xfrm>
          <a:prstGeom prst="rect">
            <a:avLst/>
          </a:prstGeom>
          <a:solidFill>
            <a:srgbClr val="F96167"/>
          </a:solidFill>
          <a:ln/>
        </p:spPr>
      </p:sp>
      <p:sp>
        <p:nvSpPr>
          <p:cNvPr id="7" name="Shape 5"/>
          <p:cNvSpPr/>
          <p:nvPr/>
        </p:nvSpPr>
        <p:spPr>
          <a:xfrm>
            <a:off x="1527048" y="2286000"/>
            <a:ext cx="768096" cy="768096"/>
          </a:xfrm>
          <a:prstGeom prst="ellipse">
            <a:avLst/>
          </a:prstGeom>
          <a:solidFill>
            <a:srgbClr val="FFFFFF"/>
          </a:solidFill>
          <a:ln/>
        </p:spPr>
      </p:sp>
      <p:pic>
        <p:nvPicPr>
          <p:cNvPr id="8" name="Image 0" descr="/home/claude/proj/icons/users_coral.png">    </p:cNvPr>
          <p:cNvPicPr>
            <a:picLocks noChangeAspect="1"/>
          </p:cNvPicPr>
          <p:nvPr/>
        </p:nvPicPr>
        <p:blipFill>
          <a:blip r:embed="rId1"/>
          <a:stretch>
            <a:fillRect/>
          </a:stretch>
        </p:blipFill>
        <p:spPr>
          <a:xfrm>
            <a:off x="1726753" y="2485705"/>
            <a:ext cx="368686" cy="368686"/>
          </a:xfrm>
          <a:prstGeom prst="rect">
            <a:avLst/>
          </a:prstGeom>
        </p:spPr>
      </p:pic>
      <p:sp>
        <p:nvSpPr>
          <p:cNvPr id="9" name="Text 6"/>
          <p:cNvSpPr/>
          <p:nvPr/>
        </p:nvSpPr>
        <p:spPr>
          <a:xfrm>
            <a:off x="548640" y="3200400"/>
            <a:ext cx="2724912" cy="365760"/>
          </a:xfrm>
          <a:prstGeom prst="rect">
            <a:avLst/>
          </a:prstGeom>
          <a:noFill/>
          <a:ln/>
        </p:spPr>
        <p:txBody>
          <a:bodyPr wrap="square" lIns="0" tIns="0" rIns="0" bIns="0" rtlCol="0" anchor="ctr"/>
          <a:lstStyle/>
          <a:p>
            <a:pPr algn="ctr" indent="0" marL="0">
              <a:buNone/>
            </a:pPr>
            <a:r>
              <a:rPr lang="en-US" sz="1600" b="1" dirty="0">
                <a:solidFill>
                  <a:srgbClr val="24263B"/>
                </a:solidFill>
                <a:latin typeface="Calibri" pitchFamily="34" charset="0"/>
                <a:ea typeface="Calibri" pitchFamily="34" charset="-122"/>
                <a:cs typeface="Calibri" pitchFamily="34" charset="-120"/>
              </a:rPr>
              <a:t>High-Value</a:t>
            </a:r>
            <a:endParaRPr lang="en-US" sz="1600" dirty="0"/>
          </a:p>
        </p:txBody>
      </p:sp>
      <p:sp>
        <p:nvSpPr>
          <p:cNvPr id="10" name="Text 7"/>
          <p:cNvSpPr/>
          <p:nvPr/>
        </p:nvSpPr>
        <p:spPr>
          <a:xfrm>
            <a:off x="685800" y="3611880"/>
            <a:ext cx="2450592" cy="457200"/>
          </a:xfrm>
          <a:prstGeom prst="rect">
            <a:avLst/>
          </a:prstGeom>
          <a:noFill/>
          <a:ln/>
        </p:spPr>
        <p:txBody>
          <a:bodyPr wrap="square" lIns="0" tIns="0" rIns="0" bIns="0" rtlCol="0" anchor="ctr"/>
          <a:lstStyle/>
          <a:p>
            <a:pPr algn="ctr" indent="0" marL="0">
              <a:buNone/>
            </a:pPr>
            <a:r>
              <a:rPr lang="en-US" sz="1050" b="1" dirty="0">
                <a:solidFill>
                  <a:srgbClr val="F96167"/>
                </a:solidFill>
                <a:latin typeface="Calibri" pitchFamily="34" charset="0"/>
                <a:ea typeface="Calibri" pitchFamily="34" charset="-122"/>
                <a:cs typeface="Calibri" pitchFamily="34" charset="-120"/>
              </a:rPr>
              <a:t>High R, High F, High M</a:t>
            </a:r>
            <a:endParaRPr lang="en-US" sz="1050" dirty="0"/>
          </a:p>
        </p:txBody>
      </p:sp>
      <p:sp>
        <p:nvSpPr>
          <p:cNvPr id="11" name="Text 8"/>
          <p:cNvSpPr/>
          <p:nvPr/>
        </p:nvSpPr>
        <p:spPr>
          <a:xfrm>
            <a:off x="731520" y="4069080"/>
            <a:ext cx="2359152" cy="594360"/>
          </a:xfrm>
          <a:prstGeom prst="rect">
            <a:avLst/>
          </a:prstGeom>
          <a:noFill/>
          <a:ln/>
        </p:spPr>
        <p:txBody>
          <a:bodyPr wrap="square" lIns="0" tIns="0" rIns="0" bIns="0" rtlCol="0" anchor="t"/>
          <a:lstStyle/>
          <a:p>
            <a:pPr algn="ctr" indent="0" marL="0">
              <a:buNone/>
            </a:pPr>
            <a:r>
              <a:rPr lang="en-US" sz="1000" dirty="0">
                <a:solidFill>
                  <a:srgbClr val="6B7186"/>
                </a:solidFill>
                <a:latin typeface="Calibri" pitchFamily="34" charset="0"/>
                <a:ea typeface="Calibri" pitchFamily="34" charset="-122"/>
                <a:cs typeface="Calibri" pitchFamily="34" charset="-120"/>
              </a:rPr>
              <a:t>Regular, frequent, recent, and big spenders</a:t>
            </a:r>
            <a:endParaRPr lang="en-US" sz="1000" dirty="0"/>
          </a:p>
        </p:txBody>
      </p:sp>
      <p:sp>
        <p:nvSpPr>
          <p:cNvPr id="12" name="Shape 9"/>
          <p:cNvSpPr/>
          <p:nvPr/>
        </p:nvSpPr>
        <p:spPr>
          <a:xfrm>
            <a:off x="3438144" y="1691640"/>
            <a:ext cx="2724912" cy="3017520"/>
          </a:xfrm>
          <a:prstGeom prst="roundRect">
            <a:avLst>
              <a:gd name="adj" fmla="val 3356"/>
            </a:avLst>
          </a:prstGeom>
          <a:solidFill>
            <a:srgbClr val="F1F3FA"/>
          </a:solidFill>
          <a:ln/>
          <a:effectLst>
            <a:outerShdw sx="100000" sy="100000" kx="0" ky="0" algn="bl" rotWithShape="0" blurRad="101600" dist="38100" dir="2700000">
              <a:srgbClr val="1A1A2E">
                <a:alpha val="12000"/>
              </a:srgbClr>
            </a:outerShdw>
          </a:effectLst>
        </p:spPr>
      </p:sp>
      <p:sp>
        <p:nvSpPr>
          <p:cNvPr id="13" name="Shape 10"/>
          <p:cNvSpPr/>
          <p:nvPr/>
        </p:nvSpPr>
        <p:spPr>
          <a:xfrm>
            <a:off x="3438144" y="1691640"/>
            <a:ext cx="2724912" cy="457200"/>
          </a:xfrm>
          <a:prstGeom prst="roundRect">
            <a:avLst>
              <a:gd name="adj" fmla="val 20000"/>
            </a:avLst>
          </a:prstGeom>
          <a:solidFill>
            <a:srgbClr val="2F3C7E"/>
          </a:solidFill>
          <a:ln/>
        </p:spPr>
      </p:sp>
      <p:sp>
        <p:nvSpPr>
          <p:cNvPr id="14" name="Shape 11"/>
          <p:cNvSpPr/>
          <p:nvPr/>
        </p:nvSpPr>
        <p:spPr>
          <a:xfrm>
            <a:off x="3438144" y="1965960"/>
            <a:ext cx="2724912" cy="182880"/>
          </a:xfrm>
          <a:prstGeom prst="rect">
            <a:avLst/>
          </a:prstGeom>
          <a:solidFill>
            <a:srgbClr val="2F3C7E"/>
          </a:solidFill>
          <a:ln/>
        </p:spPr>
      </p:sp>
      <p:sp>
        <p:nvSpPr>
          <p:cNvPr id="15" name="Shape 12"/>
          <p:cNvSpPr/>
          <p:nvPr/>
        </p:nvSpPr>
        <p:spPr>
          <a:xfrm>
            <a:off x="4416552" y="2286000"/>
            <a:ext cx="768096" cy="768096"/>
          </a:xfrm>
          <a:prstGeom prst="ellipse">
            <a:avLst/>
          </a:prstGeom>
          <a:solidFill>
            <a:srgbClr val="FFFFFF"/>
          </a:solidFill>
          <a:ln/>
        </p:spPr>
      </p:sp>
      <p:pic>
        <p:nvPicPr>
          <p:cNvPr id="16" name="Image 1" descr="/home/claude/proj/icons/chart_coral.png">    </p:cNvPr>
          <p:cNvPicPr>
            <a:picLocks noChangeAspect="1"/>
          </p:cNvPicPr>
          <p:nvPr/>
        </p:nvPicPr>
        <p:blipFill>
          <a:blip r:embed="rId2"/>
          <a:stretch>
            <a:fillRect/>
          </a:stretch>
        </p:blipFill>
        <p:spPr>
          <a:xfrm>
            <a:off x="4616257" y="2485705"/>
            <a:ext cx="368686" cy="368686"/>
          </a:xfrm>
          <a:prstGeom prst="rect">
            <a:avLst/>
          </a:prstGeom>
        </p:spPr>
      </p:pic>
      <p:sp>
        <p:nvSpPr>
          <p:cNvPr id="17" name="Text 13"/>
          <p:cNvSpPr/>
          <p:nvPr/>
        </p:nvSpPr>
        <p:spPr>
          <a:xfrm>
            <a:off x="3438144" y="3200400"/>
            <a:ext cx="2724912" cy="365760"/>
          </a:xfrm>
          <a:prstGeom prst="rect">
            <a:avLst/>
          </a:prstGeom>
          <a:noFill/>
          <a:ln/>
        </p:spPr>
        <p:txBody>
          <a:bodyPr wrap="square" lIns="0" tIns="0" rIns="0" bIns="0" rtlCol="0" anchor="ctr"/>
          <a:lstStyle/>
          <a:p>
            <a:pPr algn="ctr" indent="0" marL="0">
              <a:buNone/>
            </a:pPr>
            <a:r>
              <a:rPr lang="en-US" sz="1600" b="1" dirty="0">
                <a:solidFill>
                  <a:srgbClr val="24263B"/>
                </a:solidFill>
                <a:latin typeface="Calibri" pitchFamily="34" charset="0"/>
                <a:ea typeface="Calibri" pitchFamily="34" charset="-122"/>
                <a:cs typeface="Calibri" pitchFamily="34" charset="-120"/>
              </a:rPr>
              <a:t>Regular</a:t>
            </a:r>
            <a:endParaRPr lang="en-US" sz="1600" dirty="0"/>
          </a:p>
        </p:txBody>
      </p:sp>
      <p:sp>
        <p:nvSpPr>
          <p:cNvPr id="18" name="Text 14"/>
          <p:cNvSpPr/>
          <p:nvPr/>
        </p:nvSpPr>
        <p:spPr>
          <a:xfrm>
            <a:off x="3575304" y="3611880"/>
            <a:ext cx="2450592" cy="457200"/>
          </a:xfrm>
          <a:prstGeom prst="rect">
            <a:avLst/>
          </a:prstGeom>
          <a:noFill/>
          <a:ln/>
        </p:spPr>
        <p:txBody>
          <a:bodyPr wrap="square" lIns="0" tIns="0" rIns="0" bIns="0" rtlCol="0" anchor="ctr"/>
          <a:lstStyle/>
          <a:p>
            <a:pPr algn="ctr" indent="0" marL="0">
              <a:buNone/>
            </a:pPr>
            <a:r>
              <a:rPr lang="en-US" sz="1050" b="1" dirty="0">
                <a:solidFill>
                  <a:srgbClr val="2F3C7E"/>
                </a:solidFill>
                <a:latin typeface="Calibri" pitchFamily="34" charset="0"/>
                <a:ea typeface="Calibri" pitchFamily="34" charset="-122"/>
                <a:cs typeface="Calibri" pitchFamily="34" charset="-120"/>
              </a:rPr>
              <a:t>Medium F, Medium M</a:t>
            </a:r>
            <a:endParaRPr lang="en-US" sz="1050" dirty="0"/>
          </a:p>
        </p:txBody>
      </p:sp>
      <p:sp>
        <p:nvSpPr>
          <p:cNvPr id="19" name="Text 15"/>
          <p:cNvSpPr/>
          <p:nvPr/>
        </p:nvSpPr>
        <p:spPr>
          <a:xfrm>
            <a:off x="3621024" y="4069080"/>
            <a:ext cx="2359152" cy="594360"/>
          </a:xfrm>
          <a:prstGeom prst="rect">
            <a:avLst/>
          </a:prstGeom>
          <a:noFill/>
          <a:ln/>
        </p:spPr>
        <p:txBody>
          <a:bodyPr wrap="square" lIns="0" tIns="0" rIns="0" bIns="0" rtlCol="0" anchor="t"/>
          <a:lstStyle/>
          <a:p>
            <a:pPr algn="ctr" indent="0" marL="0">
              <a:buNone/>
            </a:pPr>
            <a:r>
              <a:rPr lang="en-US" sz="1000" dirty="0">
                <a:solidFill>
                  <a:srgbClr val="6B7186"/>
                </a:solidFill>
                <a:latin typeface="Calibri" pitchFamily="34" charset="0"/>
                <a:ea typeface="Calibri" pitchFamily="34" charset="-122"/>
                <a:cs typeface="Calibri" pitchFamily="34" charset="-120"/>
              </a:rPr>
              <a:t>Steady purchasers but not premium</a:t>
            </a:r>
            <a:endParaRPr lang="en-US" sz="1000" dirty="0"/>
          </a:p>
        </p:txBody>
      </p:sp>
      <p:sp>
        <p:nvSpPr>
          <p:cNvPr id="20" name="Shape 16"/>
          <p:cNvSpPr/>
          <p:nvPr/>
        </p:nvSpPr>
        <p:spPr>
          <a:xfrm>
            <a:off x="6327648" y="1691640"/>
            <a:ext cx="2724912" cy="3017520"/>
          </a:xfrm>
          <a:prstGeom prst="roundRect">
            <a:avLst>
              <a:gd name="adj" fmla="val 3356"/>
            </a:avLst>
          </a:prstGeom>
          <a:solidFill>
            <a:srgbClr val="F1F3FA"/>
          </a:solidFill>
          <a:ln/>
          <a:effectLst>
            <a:outerShdw sx="100000" sy="100000" kx="0" ky="0" algn="bl" rotWithShape="0" blurRad="101600" dist="38100" dir="2700000">
              <a:srgbClr val="1A1A2E">
                <a:alpha val="12000"/>
              </a:srgbClr>
            </a:outerShdw>
          </a:effectLst>
        </p:spPr>
      </p:sp>
      <p:sp>
        <p:nvSpPr>
          <p:cNvPr id="21" name="Shape 17"/>
          <p:cNvSpPr/>
          <p:nvPr/>
        </p:nvSpPr>
        <p:spPr>
          <a:xfrm>
            <a:off x="6327648" y="1691640"/>
            <a:ext cx="2724912" cy="457200"/>
          </a:xfrm>
          <a:prstGeom prst="roundRect">
            <a:avLst>
              <a:gd name="adj" fmla="val 20000"/>
            </a:avLst>
          </a:prstGeom>
          <a:solidFill>
            <a:srgbClr val="2F3C7E"/>
          </a:solidFill>
          <a:ln/>
        </p:spPr>
      </p:sp>
      <p:sp>
        <p:nvSpPr>
          <p:cNvPr id="22" name="Shape 18"/>
          <p:cNvSpPr/>
          <p:nvPr/>
        </p:nvSpPr>
        <p:spPr>
          <a:xfrm>
            <a:off x="6327648" y="1965960"/>
            <a:ext cx="2724912" cy="182880"/>
          </a:xfrm>
          <a:prstGeom prst="rect">
            <a:avLst/>
          </a:prstGeom>
          <a:solidFill>
            <a:srgbClr val="2F3C7E"/>
          </a:solidFill>
          <a:ln/>
        </p:spPr>
      </p:sp>
      <p:sp>
        <p:nvSpPr>
          <p:cNvPr id="23" name="Shape 19"/>
          <p:cNvSpPr/>
          <p:nvPr/>
        </p:nvSpPr>
        <p:spPr>
          <a:xfrm>
            <a:off x="7306056" y="2286000"/>
            <a:ext cx="768096" cy="768096"/>
          </a:xfrm>
          <a:prstGeom prst="ellipse">
            <a:avLst/>
          </a:prstGeom>
          <a:solidFill>
            <a:srgbClr val="FFFFFF"/>
          </a:solidFill>
          <a:ln/>
        </p:spPr>
      </p:sp>
      <p:pic>
        <p:nvPicPr>
          <p:cNvPr id="24" name="Image 2" descr="/home/claude/proj/icons/clock_coral.png">    </p:cNvPr>
          <p:cNvPicPr>
            <a:picLocks noChangeAspect="1"/>
          </p:cNvPicPr>
          <p:nvPr/>
        </p:nvPicPr>
        <p:blipFill>
          <a:blip r:embed="rId3"/>
          <a:stretch>
            <a:fillRect/>
          </a:stretch>
        </p:blipFill>
        <p:spPr>
          <a:xfrm>
            <a:off x="7505761" y="2485705"/>
            <a:ext cx="368686" cy="368686"/>
          </a:xfrm>
          <a:prstGeom prst="rect">
            <a:avLst/>
          </a:prstGeom>
        </p:spPr>
      </p:pic>
      <p:sp>
        <p:nvSpPr>
          <p:cNvPr id="25" name="Text 20"/>
          <p:cNvSpPr/>
          <p:nvPr/>
        </p:nvSpPr>
        <p:spPr>
          <a:xfrm>
            <a:off x="6327648" y="3200400"/>
            <a:ext cx="2724912" cy="365760"/>
          </a:xfrm>
          <a:prstGeom prst="rect">
            <a:avLst/>
          </a:prstGeom>
          <a:noFill/>
          <a:ln/>
        </p:spPr>
        <p:txBody>
          <a:bodyPr wrap="square" lIns="0" tIns="0" rIns="0" bIns="0" rtlCol="0" anchor="ctr"/>
          <a:lstStyle/>
          <a:p>
            <a:pPr algn="ctr" indent="0" marL="0">
              <a:buNone/>
            </a:pPr>
            <a:r>
              <a:rPr lang="en-US" sz="1600" b="1" dirty="0">
                <a:solidFill>
                  <a:srgbClr val="24263B"/>
                </a:solidFill>
                <a:latin typeface="Calibri" pitchFamily="34" charset="0"/>
                <a:ea typeface="Calibri" pitchFamily="34" charset="-122"/>
                <a:cs typeface="Calibri" pitchFamily="34" charset="-120"/>
              </a:rPr>
              <a:t>Occasional</a:t>
            </a:r>
            <a:endParaRPr lang="en-US" sz="1600" dirty="0"/>
          </a:p>
        </p:txBody>
      </p:sp>
      <p:sp>
        <p:nvSpPr>
          <p:cNvPr id="26" name="Text 21"/>
          <p:cNvSpPr/>
          <p:nvPr/>
        </p:nvSpPr>
        <p:spPr>
          <a:xfrm>
            <a:off x="6464808" y="3611880"/>
            <a:ext cx="2450592" cy="457200"/>
          </a:xfrm>
          <a:prstGeom prst="rect">
            <a:avLst/>
          </a:prstGeom>
          <a:noFill/>
          <a:ln/>
        </p:spPr>
        <p:txBody>
          <a:bodyPr wrap="square" lIns="0" tIns="0" rIns="0" bIns="0" rtlCol="0" anchor="ctr"/>
          <a:lstStyle/>
          <a:p>
            <a:pPr algn="ctr" indent="0" marL="0">
              <a:buNone/>
            </a:pPr>
            <a:r>
              <a:rPr lang="en-US" sz="1050" b="1" dirty="0">
                <a:solidFill>
                  <a:srgbClr val="2F3C7E"/>
                </a:solidFill>
                <a:latin typeface="Calibri" pitchFamily="34" charset="0"/>
                <a:ea typeface="Calibri" pitchFamily="34" charset="-122"/>
                <a:cs typeface="Calibri" pitchFamily="34" charset="-120"/>
              </a:rPr>
              <a:t>Low F, Low M, older R</a:t>
            </a:r>
            <a:endParaRPr lang="en-US" sz="1050" dirty="0"/>
          </a:p>
        </p:txBody>
      </p:sp>
      <p:sp>
        <p:nvSpPr>
          <p:cNvPr id="27" name="Text 22"/>
          <p:cNvSpPr/>
          <p:nvPr/>
        </p:nvSpPr>
        <p:spPr>
          <a:xfrm>
            <a:off x="6510528" y="4069080"/>
            <a:ext cx="2359152" cy="594360"/>
          </a:xfrm>
          <a:prstGeom prst="rect">
            <a:avLst/>
          </a:prstGeom>
          <a:noFill/>
          <a:ln/>
        </p:spPr>
        <p:txBody>
          <a:bodyPr wrap="square" lIns="0" tIns="0" rIns="0" bIns="0" rtlCol="0" anchor="t"/>
          <a:lstStyle/>
          <a:p>
            <a:pPr algn="ctr" indent="0" marL="0">
              <a:buNone/>
            </a:pPr>
            <a:r>
              <a:rPr lang="en-US" sz="1000" dirty="0">
                <a:solidFill>
                  <a:srgbClr val="6B7186"/>
                </a:solidFill>
                <a:latin typeface="Calibri" pitchFamily="34" charset="0"/>
                <a:ea typeface="Calibri" pitchFamily="34" charset="-122"/>
                <a:cs typeface="Calibri" pitchFamily="34" charset="-120"/>
              </a:rPr>
              <a:t>Rare, occasional purchases</a:t>
            </a:r>
            <a:endParaRPr lang="en-US" sz="1000" dirty="0"/>
          </a:p>
        </p:txBody>
      </p:sp>
      <p:sp>
        <p:nvSpPr>
          <p:cNvPr id="28" name="Shape 23"/>
          <p:cNvSpPr/>
          <p:nvPr/>
        </p:nvSpPr>
        <p:spPr>
          <a:xfrm>
            <a:off x="9217152" y="1691640"/>
            <a:ext cx="2724912" cy="3017520"/>
          </a:xfrm>
          <a:prstGeom prst="roundRect">
            <a:avLst>
              <a:gd name="adj" fmla="val 3356"/>
            </a:avLst>
          </a:prstGeom>
          <a:solidFill>
            <a:srgbClr val="F1F3FA"/>
          </a:solidFill>
          <a:ln/>
          <a:effectLst>
            <a:outerShdw sx="100000" sy="100000" kx="0" ky="0" algn="bl" rotWithShape="0" blurRad="101600" dist="38100" dir="2700000">
              <a:srgbClr val="1A1A2E">
                <a:alpha val="12000"/>
              </a:srgbClr>
            </a:outerShdw>
          </a:effectLst>
        </p:spPr>
      </p:sp>
      <p:sp>
        <p:nvSpPr>
          <p:cNvPr id="29" name="Shape 24"/>
          <p:cNvSpPr/>
          <p:nvPr/>
        </p:nvSpPr>
        <p:spPr>
          <a:xfrm>
            <a:off x="9217152" y="1691640"/>
            <a:ext cx="2724912" cy="457200"/>
          </a:xfrm>
          <a:prstGeom prst="roundRect">
            <a:avLst>
              <a:gd name="adj" fmla="val 20000"/>
            </a:avLst>
          </a:prstGeom>
          <a:solidFill>
            <a:srgbClr val="9B2C2C"/>
          </a:solidFill>
          <a:ln/>
        </p:spPr>
      </p:sp>
      <p:sp>
        <p:nvSpPr>
          <p:cNvPr id="30" name="Shape 25"/>
          <p:cNvSpPr/>
          <p:nvPr/>
        </p:nvSpPr>
        <p:spPr>
          <a:xfrm>
            <a:off x="9217152" y="1965960"/>
            <a:ext cx="2724912" cy="182880"/>
          </a:xfrm>
          <a:prstGeom prst="rect">
            <a:avLst/>
          </a:prstGeom>
          <a:solidFill>
            <a:srgbClr val="9B2C2C"/>
          </a:solidFill>
          <a:ln/>
        </p:spPr>
      </p:sp>
      <p:sp>
        <p:nvSpPr>
          <p:cNvPr id="31" name="Shape 26"/>
          <p:cNvSpPr/>
          <p:nvPr/>
        </p:nvSpPr>
        <p:spPr>
          <a:xfrm>
            <a:off x="10195560" y="2286000"/>
            <a:ext cx="768096" cy="768096"/>
          </a:xfrm>
          <a:prstGeom prst="ellipse">
            <a:avLst/>
          </a:prstGeom>
          <a:solidFill>
            <a:srgbClr val="FFFFFF"/>
          </a:solidFill>
          <a:ln/>
        </p:spPr>
      </p:sp>
      <p:pic>
        <p:nvPicPr>
          <p:cNvPr id="32" name="Image 3" descr="/home/claude/proj/icons/target_coral.png">    </p:cNvPr>
          <p:cNvPicPr>
            <a:picLocks noChangeAspect="1"/>
          </p:cNvPicPr>
          <p:nvPr/>
        </p:nvPicPr>
        <p:blipFill>
          <a:blip r:embed="rId4"/>
          <a:stretch>
            <a:fillRect/>
          </a:stretch>
        </p:blipFill>
        <p:spPr>
          <a:xfrm>
            <a:off x="10395265" y="2485705"/>
            <a:ext cx="368686" cy="368686"/>
          </a:xfrm>
          <a:prstGeom prst="rect">
            <a:avLst/>
          </a:prstGeom>
        </p:spPr>
      </p:pic>
      <p:sp>
        <p:nvSpPr>
          <p:cNvPr id="33" name="Text 27"/>
          <p:cNvSpPr/>
          <p:nvPr/>
        </p:nvSpPr>
        <p:spPr>
          <a:xfrm>
            <a:off x="9217152" y="3200400"/>
            <a:ext cx="2724912" cy="365760"/>
          </a:xfrm>
          <a:prstGeom prst="rect">
            <a:avLst/>
          </a:prstGeom>
          <a:noFill/>
          <a:ln/>
        </p:spPr>
        <p:txBody>
          <a:bodyPr wrap="square" lIns="0" tIns="0" rIns="0" bIns="0" rtlCol="0" anchor="ctr"/>
          <a:lstStyle/>
          <a:p>
            <a:pPr algn="ctr" indent="0" marL="0">
              <a:buNone/>
            </a:pPr>
            <a:r>
              <a:rPr lang="en-US" sz="1600" b="1" dirty="0">
                <a:solidFill>
                  <a:srgbClr val="24263B"/>
                </a:solidFill>
                <a:latin typeface="Calibri" pitchFamily="34" charset="0"/>
                <a:ea typeface="Calibri" pitchFamily="34" charset="-122"/>
                <a:cs typeface="Calibri" pitchFamily="34" charset="-120"/>
              </a:rPr>
              <a:t>At-Risk</a:t>
            </a:r>
            <a:endParaRPr lang="en-US" sz="1600" dirty="0"/>
          </a:p>
        </p:txBody>
      </p:sp>
      <p:sp>
        <p:nvSpPr>
          <p:cNvPr id="34" name="Text 28"/>
          <p:cNvSpPr/>
          <p:nvPr/>
        </p:nvSpPr>
        <p:spPr>
          <a:xfrm>
            <a:off x="9354312" y="3611880"/>
            <a:ext cx="2450592" cy="457200"/>
          </a:xfrm>
          <a:prstGeom prst="rect">
            <a:avLst/>
          </a:prstGeom>
          <a:noFill/>
          <a:ln/>
        </p:spPr>
        <p:txBody>
          <a:bodyPr wrap="square" lIns="0" tIns="0" rIns="0" bIns="0" rtlCol="0" anchor="ctr"/>
          <a:lstStyle/>
          <a:p>
            <a:pPr algn="ctr" indent="0" marL="0">
              <a:buNone/>
            </a:pPr>
            <a:r>
              <a:rPr lang="en-US" sz="1050" b="1" dirty="0">
                <a:solidFill>
                  <a:srgbClr val="9B2C2C"/>
                </a:solidFill>
                <a:latin typeface="Calibri" pitchFamily="34" charset="0"/>
                <a:ea typeface="Calibri" pitchFamily="34" charset="-122"/>
                <a:cs typeface="Calibri" pitchFamily="34" charset="-120"/>
              </a:rPr>
              <a:t>High R, Low F, Low M</a:t>
            </a:r>
            <a:endParaRPr lang="en-US" sz="1050" dirty="0"/>
          </a:p>
        </p:txBody>
      </p:sp>
      <p:sp>
        <p:nvSpPr>
          <p:cNvPr id="35" name="Text 29"/>
          <p:cNvSpPr/>
          <p:nvPr/>
        </p:nvSpPr>
        <p:spPr>
          <a:xfrm>
            <a:off x="9400032" y="4069080"/>
            <a:ext cx="2359152" cy="594360"/>
          </a:xfrm>
          <a:prstGeom prst="rect">
            <a:avLst/>
          </a:prstGeom>
          <a:noFill/>
          <a:ln/>
        </p:spPr>
        <p:txBody>
          <a:bodyPr wrap="square" lIns="0" tIns="0" rIns="0" bIns="0" rtlCol="0" anchor="t"/>
          <a:lstStyle/>
          <a:p>
            <a:pPr algn="ctr" indent="0" marL="0">
              <a:buNone/>
            </a:pPr>
            <a:r>
              <a:rPr lang="en-US" sz="1000" dirty="0">
                <a:solidFill>
                  <a:srgbClr val="6B7186"/>
                </a:solidFill>
                <a:latin typeface="Calibri" pitchFamily="34" charset="0"/>
                <a:ea typeface="Calibri" pitchFamily="34" charset="-122"/>
                <a:cs typeface="Calibri" pitchFamily="34" charset="-120"/>
              </a:rPr>
              <a:t>Haven't purchased in a long time</a:t>
            </a:r>
            <a:endParaRPr lang="en-US" sz="1000" dirty="0"/>
          </a:p>
        </p:txBody>
      </p:sp>
      <p:sp>
        <p:nvSpPr>
          <p:cNvPr id="36" name="Text 30"/>
          <p:cNvSpPr/>
          <p:nvPr/>
        </p:nvSpPr>
        <p:spPr>
          <a:xfrm>
            <a:off x="457200" y="6473952"/>
            <a:ext cx="3657600" cy="274320"/>
          </a:xfrm>
          <a:prstGeom prst="rect">
            <a:avLst/>
          </a:prstGeom>
          <a:noFill/>
          <a:ln/>
        </p:spPr>
        <p:txBody>
          <a:bodyPr wrap="square" lIns="0" tIns="0" rIns="0" bIns="0" rtlCol="0" anchor="ctr"/>
          <a:lstStyle/>
          <a:p>
            <a:pPr indent="0" marL="0">
              <a:buNone/>
            </a:pPr>
            <a:r>
              <a:rPr lang="en-US" sz="900" spc="200" kern="0" dirty="0">
                <a:solidFill>
                  <a:srgbClr val="6B7186"/>
                </a:solidFill>
                <a:latin typeface="Calibri" pitchFamily="34" charset="0"/>
                <a:ea typeface="Calibri" pitchFamily="34" charset="-122"/>
                <a:cs typeface="Calibri" pitchFamily="34" charset="-120"/>
              </a:rPr>
              <a:t>SHOPPER SPECTRUM</a:t>
            </a:r>
            <a:endParaRPr lang="en-US" sz="900" dirty="0"/>
          </a:p>
        </p:txBody>
      </p:sp>
      <p:sp>
        <p:nvSpPr>
          <p:cNvPr id="37" name="Text 31"/>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718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32C5E"/>
        </a:solidFill>
      </p:bgPr>
    </p:bg>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lIns="0" tIns="0" rIns="0" bIns="0" rtlCol="0" anchor="ctr"/>
          <a:lstStyle/>
          <a:p>
            <a:pPr indent="0" marL="0">
              <a:buNone/>
            </a:pPr>
            <a:r>
              <a:rPr lang="en-US" sz="1200" b="1" spc="200" kern="0" dirty="0">
                <a:solidFill>
                  <a:srgbClr val="F9E795"/>
                </a:solidFill>
                <a:latin typeface="Calibri" pitchFamily="34" charset="0"/>
                <a:ea typeface="Calibri" pitchFamily="34" charset="-122"/>
                <a:cs typeface="Calibri" pitchFamily="34" charset="-120"/>
              </a:rPr>
              <a:t>08  RECOMMENDATION ENGINE</a:t>
            </a:r>
            <a:endParaRPr lang="en-US" sz="1200" dirty="0"/>
          </a:p>
        </p:txBody>
      </p:sp>
      <p:sp>
        <p:nvSpPr>
          <p:cNvPr id="3" name="Text 1"/>
          <p:cNvSpPr/>
          <p:nvPr/>
        </p:nvSpPr>
        <p:spPr>
          <a:xfrm>
            <a:off x="548640" y="777240"/>
            <a:ext cx="8686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Item-Based Collaborative Filtering</a:t>
            </a:r>
            <a:endParaRPr lang="en-US" sz="3000" dirty="0"/>
          </a:p>
        </p:txBody>
      </p:sp>
      <p:sp>
        <p:nvSpPr>
          <p:cNvPr id="4" name="Text 2"/>
          <p:cNvSpPr/>
          <p:nvPr/>
        </p:nvSpPr>
        <p:spPr>
          <a:xfrm>
            <a:off x="548640" y="1600200"/>
            <a:ext cx="6492240" cy="1554480"/>
          </a:xfrm>
          <a:prstGeom prst="rect">
            <a:avLst/>
          </a:prstGeom>
          <a:noFill/>
          <a:ln/>
        </p:spPr>
        <p:txBody>
          <a:bodyPr wrap="square" lIns="0" tIns="0" rIns="0" bIns="0" rtlCol="0" anchor="t"/>
          <a:lstStyle/>
          <a:p>
            <a:pPr indent="0" marL="0">
              <a:buNone/>
            </a:pPr>
            <a:r>
              <a:rPr lang="en-US" sz="1350" dirty="0">
                <a:solidFill>
                  <a:srgbClr val="C6CBE8"/>
                </a:solidFill>
                <a:latin typeface="Calibri" pitchFamily="34" charset="0"/>
                <a:ea typeface="Calibri" pitchFamily="34" charset="-122"/>
                <a:cs typeface="Calibri" pitchFamily="34" charset="-120"/>
              </a:rPr>
              <a:t>A CustomerID – Description purchase matrix captures how often each customer buys each product. Cosine similarity between product vectors surfaces items that tend to be purchased by similar customers, so the app can return the top 5 most similar products for any product name entered.</a:t>
            </a:r>
            <a:endParaRPr lang="en-US" sz="1350" dirty="0"/>
          </a:p>
        </p:txBody>
      </p:sp>
      <p:sp>
        <p:nvSpPr>
          <p:cNvPr id="5" name="Shape 3"/>
          <p:cNvSpPr/>
          <p:nvPr/>
        </p:nvSpPr>
        <p:spPr>
          <a:xfrm>
            <a:off x="548640" y="3291840"/>
            <a:ext cx="1508760" cy="777240"/>
          </a:xfrm>
          <a:prstGeom prst="roundRect">
            <a:avLst>
              <a:gd name="adj" fmla="val 9412"/>
            </a:avLst>
          </a:prstGeom>
          <a:solidFill>
            <a:srgbClr val="2F3C7E"/>
          </a:solidFill>
          <a:ln/>
          <a:effectLst>
            <a:outerShdw sx="100000" sy="100000" kx="0" ky="0" algn="bl" rotWithShape="0" blurRad="101600" dist="38100" dir="2700000">
              <a:srgbClr val="1A1A2E">
                <a:alpha val="12000"/>
              </a:srgbClr>
            </a:outerShdw>
          </a:effectLst>
        </p:spPr>
      </p:sp>
      <p:sp>
        <p:nvSpPr>
          <p:cNvPr id="6" name="Text 4"/>
          <p:cNvSpPr/>
          <p:nvPr/>
        </p:nvSpPr>
        <p:spPr>
          <a:xfrm>
            <a:off x="594360" y="3291840"/>
            <a:ext cx="1417320" cy="7772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Purchase Matrix</a:t>
            </a:r>
            <a:endParaRPr lang="en-US" sz="950" dirty="0"/>
          </a:p>
        </p:txBody>
      </p:sp>
      <p:sp>
        <p:nvSpPr>
          <p:cNvPr id="7" name="Shape 5"/>
          <p:cNvSpPr/>
          <p:nvPr/>
        </p:nvSpPr>
        <p:spPr>
          <a:xfrm>
            <a:off x="2057400" y="3675888"/>
            <a:ext cx="182880" cy="0"/>
          </a:xfrm>
          <a:prstGeom prst="line">
            <a:avLst/>
          </a:prstGeom>
          <a:noFill/>
          <a:ln w="25400">
            <a:solidFill>
              <a:srgbClr val="F96167"/>
            </a:solidFill>
            <a:prstDash val="solid"/>
          </a:ln>
        </p:spPr>
      </p:sp>
      <p:sp>
        <p:nvSpPr>
          <p:cNvPr id="8" name="Shape 6"/>
          <p:cNvSpPr/>
          <p:nvPr/>
        </p:nvSpPr>
        <p:spPr>
          <a:xfrm>
            <a:off x="2240280" y="3291840"/>
            <a:ext cx="1508760" cy="777240"/>
          </a:xfrm>
          <a:prstGeom prst="roundRect">
            <a:avLst>
              <a:gd name="adj" fmla="val 9412"/>
            </a:avLst>
          </a:prstGeom>
          <a:solidFill>
            <a:srgbClr val="2F3C7E"/>
          </a:solidFill>
          <a:ln/>
          <a:effectLst>
            <a:outerShdw sx="100000" sy="100000" kx="0" ky="0" algn="bl" rotWithShape="0" blurRad="101600" dist="38100" dir="2700000">
              <a:srgbClr val="1A1A2E">
                <a:alpha val="12000"/>
              </a:srgbClr>
            </a:outerShdw>
          </a:effectLst>
        </p:spPr>
      </p:sp>
      <p:sp>
        <p:nvSpPr>
          <p:cNvPr id="9" name="Text 7"/>
          <p:cNvSpPr/>
          <p:nvPr/>
        </p:nvSpPr>
        <p:spPr>
          <a:xfrm>
            <a:off x="2286000" y="3291840"/>
            <a:ext cx="1417320" cy="7772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Cosine Similarity</a:t>
            </a:r>
            <a:endParaRPr lang="en-US" sz="950" dirty="0"/>
          </a:p>
        </p:txBody>
      </p:sp>
      <p:sp>
        <p:nvSpPr>
          <p:cNvPr id="10" name="Shape 8"/>
          <p:cNvSpPr/>
          <p:nvPr/>
        </p:nvSpPr>
        <p:spPr>
          <a:xfrm>
            <a:off x="3749040" y="3675888"/>
            <a:ext cx="182880" cy="0"/>
          </a:xfrm>
          <a:prstGeom prst="line">
            <a:avLst/>
          </a:prstGeom>
          <a:noFill/>
          <a:ln w="25400">
            <a:solidFill>
              <a:srgbClr val="F96167"/>
            </a:solidFill>
            <a:prstDash val="solid"/>
          </a:ln>
        </p:spPr>
      </p:sp>
      <p:sp>
        <p:nvSpPr>
          <p:cNvPr id="11" name="Shape 9"/>
          <p:cNvSpPr/>
          <p:nvPr/>
        </p:nvSpPr>
        <p:spPr>
          <a:xfrm>
            <a:off x="3931920" y="3291840"/>
            <a:ext cx="1508760" cy="777240"/>
          </a:xfrm>
          <a:prstGeom prst="roundRect">
            <a:avLst>
              <a:gd name="adj" fmla="val 9412"/>
            </a:avLst>
          </a:prstGeom>
          <a:solidFill>
            <a:srgbClr val="2F3C7E"/>
          </a:solidFill>
          <a:ln/>
          <a:effectLst>
            <a:outerShdw sx="100000" sy="100000" kx="0" ky="0" algn="bl" rotWithShape="0" blurRad="101600" dist="38100" dir="2700000">
              <a:srgbClr val="1A1A2E">
                <a:alpha val="12000"/>
              </a:srgbClr>
            </a:outerShdw>
          </a:effectLst>
        </p:spPr>
      </p:sp>
      <p:sp>
        <p:nvSpPr>
          <p:cNvPr id="12" name="Text 10"/>
          <p:cNvSpPr/>
          <p:nvPr/>
        </p:nvSpPr>
        <p:spPr>
          <a:xfrm>
            <a:off x="3977640" y="3291840"/>
            <a:ext cx="1417320" cy="7772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Ranked Products</a:t>
            </a:r>
            <a:endParaRPr lang="en-US" sz="950" dirty="0"/>
          </a:p>
        </p:txBody>
      </p:sp>
      <p:sp>
        <p:nvSpPr>
          <p:cNvPr id="13" name="Shape 11"/>
          <p:cNvSpPr/>
          <p:nvPr/>
        </p:nvSpPr>
        <p:spPr>
          <a:xfrm>
            <a:off x="5440680" y="3675888"/>
            <a:ext cx="182880" cy="0"/>
          </a:xfrm>
          <a:prstGeom prst="line">
            <a:avLst/>
          </a:prstGeom>
          <a:noFill/>
          <a:ln w="25400">
            <a:solidFill>
              <a:srgbClr val="F96167"/>
            </a:solidFill>
            <a:prstDash val="solid"/>
          </a:ln>
        </p:spPr>
      </p:sp>
      <p:sp>
        <p:nvSpPr>
          <p:cNvPr id="14" name="Shape 12"/>
          <p:cNvSpPr/>
          <p:nvPr/>
        </p:nvSpPr>
        <p:spPr>
          <a:xfrm>
            <a:off x="5623560" y="3291840"/>
            <a:ext cx="1508760" cy="777240"/>
          </a:xfrm>
          <a:prstGeom prst="roundRect">
            <a:avLst>
              <a:gd name="adj" fmla="val 9412"/>
            </a:avLst>
          </a:prstGeom>
          <a:solidFill>
            <a:srgbClr val="2F3C7E"/>
          </a:solidFill>
          <a:ln/>
          <a:effectLst>
            <a:outerShdw sx="100000" sy="100000" kx="0" ky="0" algn="bl" rotWithShape="0" blurRad="101600" dist="38100" dir="2700000">
              <a:srgbClr val="1A1A2E">
                <a:alpha val="12000"/>
              </a:srgbClr>
            </a:outerShdw>
          </a:effectLst>
        </p:spPr>
      </p:sp>
      <p:sp>
        <p:nvSpPr>
          <p:cNvPr id="15" name="Text 13"/>
          <p:cNvSpPr/>
          <p:nvPr/>
        </p:nvSpPr>
        <p:spPr>
          <a:xfrm>
            <a:off x="5669280" y="3291840"/>
            <a:ext cx="1417320" cy="7772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Top 5 Recommendations</a:t>
            </a:r>
            <a:endParaRPr lang="en-US" sz="950" dirty="0"/>
          </a:p>
        </p:txBody>
      </p:sp>
      <p:sp>
        <p:nvSpPr>
          <p:cNvPr id="16" name="Shape 14"/>
          <p:cNvSpPr/>
          <p:nvPr/>
        </p:nvSpPr>
        <p:spPr>
          <a:xfrm>
            <a:off x="7360920" y="1554480"/>
            <a:ext cx="4251960" cy="4480560"/>
          </a:xfrm>
          <a:prstGeom prst="roundRect">
            <a:avLst>
              <a:gd name="adj" fmla="val 2581"/>
            </a:avLst>
          </a:prstGeom>
          <a:solidFill>
            <a:srgbClr val="FFFFFF"/>
          </a:solidFill>
          <a:ln/>
          <a:effectLst>
            <a:outerShdw sx="100000" sy="100000" kx="0" ky="0" algn="bl" rotWithShape="0" blurRad="101600" dist="38100" dir="2700000">
              <a:srgbClr val="1A1A2E">
                <a:alpha val="12000"/>
              </a:srgbClr>
            </a:outerShdw>
          </a:effectLst>
        </p:spPr>
      </p:sp>
      <p:pic>
        <p:nvPicPr>
          <p:cNvPr id="17" name="Image 0" descr="/home/claude/proj/img-000.png">    </p:cNvPr>
          <p:cNvPicPr>
            <a:picLocks noChangeAspect="1"/>
          </p:cNvPicPr>
          <p:nvPr/>
        </p:nvPicPr>
        <p:blipFill>
          <a:blip r:embed="rId1"/>
          <a:srcRect l="0" r="0" t="0" b="0"/>
          <a:stretch/>
        </p:blipFill>
        <p:spPr>
          <a:xfrm>
            <a:off x="7543800" y="1737360"/>
            <a:ext cx="3886200" cy="4114800"/>
          </a:xfrm>
          <a:prstGeom prst="rect">
            <a:avLst/>
          </a:prstGeom>
        </p:spPr>
      </p:pic>
      <p:sp>
        <p:nvSpPr>
          <p:cNvPr id="18" name="Text 15"/>
          <p:cNvSpPr/>
          <p:nvPr/>
        </p:nvSpPr>
        <p:spPr>
          <a:xfrm>
            <a:off x="457200" y="6473952"/>
            <a:ext cx="3657600" cy="274320"/>
          </a:xfrm>
          <a:prstGeom prst="rect">
            <a:avLst/>
          </a:prstGeom>
          <a:noFill/>
          <a:ln/>
        </p:spPr>
        <p:txBody>
          <a:bodyPr wrap="square" lIns="0" tIns="0" rIns="0" bIns="0" rtlCol="0" anchor="ctr"/>
          <a:lstStyle/>
          <a:p>
            <a:pPr indent="0" marL="0">
              <a:buNone/>
            </a:pPr>
            <a:r>
              <a:rPr lang="en-US" sz="900" spc="200" kern="0" dirty="0">
                <a:solidFill>
                  <a:srgbClr val="9AA0C8"/>
                </a:solidFill>
                <a:latin typeface="Calibri" pitchFamily="34" charset="0"/>
                <a:ea typeface="Calibri" pitchFamily="34" charset="-122"/>
                <a:cs typeface="Calibri" pitchFamily="34" charset="-120"/>
              </a:rPr>
              <a:t>SHOPPER SPECTRUM</a:t>
            </a:r>
            <a:endParaRPr lang="en-US" sz="900" dirty="0"/>
          </a:p>
        </p:txBody>
      </p:sp>
      <p:sp>
        <p:nvSpPr>
          <p:cNvPr id="19" name="Text 16"/>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9AA0C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3FA"/>
        </a:solidFill>
      </p:bgPr>
    </p:bg>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lIns="0" tIns="0" rIns="0" bIns="0"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09  DEPLOYMENT</a:t>
            </a:r>
            <a:endParaRPr lang="en-US" sz="1200" dirty="0"/>
          </a:p>
        </p:txBody>
      </p:sp>
      <p:sp>
        <p:nvSpPr>
          <p:cNvPr id="3" name="Text 1"/>
          <p:cNvSpPr/>
          <p:nvPr/>
        </p:nvSpPr>
        <p:spPr>
          <a:xfrm>
            <a:off x="548640" y="777240"/>
            <a:ext cx="9144000" cy="640080"/>
          </a:xfrm>
          <a:prstGeom prst="rect">
            <a:avLst/>
          </a:prstGeom>
          <a:noFill/>
          <a:ln/>
        </p:spPr>
        <p:txBody>
          <a:bodyPr wrap="square" lIns="0" tIns="0" rIns="0" bIns="0" rtlCol="0" anchor="ctr"/>
          <a:lstStyle/>
          <a:p>
            <a:pPr indent="0" marL="0">
              <a:buNone/>
            </a:pPr>
            <a:r>
              <a:rPr lang="en-US" sz="3000" b="1" dirty="0">
                <a:solidFill>
                  <a:srgbClr val="24263B"/>
                </a:solidFill>
                <a:latin typeface="Cambria" pitchFamily="34" charset="0"/>
                <a:ea typeface="Cambria" pitchFamily="34" charset="-122"/>
                <a:cs typeface="Cambria" pitchFamily="34" charset="-120"/>
              </a:rPr>
              <a:t>Interactive Streamlit Application</a:t>
            </a:r>
            <a:endParaRPr lang="en-US" sz="3000" dirty="0"/>
          </a:p>
        </p:txBody>
      </p:sp>
      <p:sp>
        <p:nvSpPr>
          <p:cNvPr id="4" name="Text 2"/>
          <p:cNvSpPr/>
          <p:nvPr/>
        </p:nvSpPr>
        <p:spPr>
          <a:xfrm>
            <a:off x="548640" y="1463040"/>
            <a:ext cx="8686800" cy="365760"/>
          </a:xfrm>
          <a:prstGeom prst="rect">
            <a:avLst/>
          </a:prstGeom>
          <a:noFill/>
          <a:ln/>
        </p:spPr>
        <p:txBody>
          <a:bodyPr wrap="square" lIns="0" tIns="0" rIns="0" bIns="0" rtlCol="0" anchor="ctr"/>
          <a:lstStyle/>
          <a:p>
            <a:pPr indent="0" marL="0">
              <a:buNone/>
            </a:pPr>
            <a:r>
              <a:rPr lang="en-US" sz="1300" dirty="0">
                <a:solidFill>
                  <a:srgbClr val="6B7186"/>
                </a:solidFill>
                <a:latin typeface="Calibri" pitchFamily="34" charset="0"/>
                <a:ea typeface="Calibri" pitchFamily="34" charset="-122"/>
                <a:cs typeface="Calibri" pitchFamily="34" charset="-120"/>
              </a:rPr>
              <a:t>Two modules, one app: a product recommender for shoppers, and a live customer-segment predictor for the business.</a:t>
            </a:r>
            <a:endParaRPr lang="en-US" sz="1300" dirty="0"/>
          </a:p>
        </p:txBody>
      </p:sp>
      <p:sp>
        <p:nvSpPr>
          <p:cNvPr id="5" name="Shape 3"/>
          <p:cNvSpPr/>
          <p:nvPr/>
        </p:nvSpPr>
        <p:spPr>
          <a:xfrm>
            <a:off x="548640" y="2011680"/>
            <a:ext cx="5486400" cy="4343400"/>
          </a:xfrm>
          <a:prstGeom prst="roundRect">
            <a:avLst>
              <a:gd name="adj" fmla="val 2105"/>
            </a:avLst>
          </a:prstGeom>
          <a:solidFill>
            <a:srgbClr val="FFFFFF"/>
          </a:solidFill>
          <a:ln/>
          <a:effectLst>
            <a:outerShdw sx="100000" sy="100000" kx="0" ky="0" algn="bl" rotWithShape="0" blurRad="101600" dist="38100" dir="2700000">
              <a:srgbClr val="1A1A2E">
                <a:alpha val="12000"/>
              </a:srgbClr>
            </a:outerShdw>
          </a:effectLst>
        </p:spPr>
      </p:sp>
      <p:sp>
        <p:nvSpPr>
          <p:cNvPr id="6" name="Text 4"/>
          <p:cNvSpPr/>
          <p:nvPr/>
        </p:nvSpPr>
        <p:spPr>
          <a:xfrm>
            <a:off x="777240" y="2148840"/>
            <a:ext cx="5029200" cy="320040"/>
          </a:xfrm>
          <a:prstGeom prst="rect">
            <a:avLst/>
          </a:prstGeom>
          <a:noFill/>
          <a:ln/>
        </p:spPr>
        <p:txBody>
          <a:bodyPr wrap="square" lIns="0" tIns="0" rIns="0" bIns="0" rtlCol="0" anchor="ctr"/>
          <a:lstStyle/>
          <a:p>
            <a:pPr indent="0" marL="0">
              <a:buNone/>
            </a:pPr>
            <a:r>
              <a:rPr lang="en-US" sz="1250" b="1" dirty="0">
                <a:solidFill>
                  <a:srgbClr val="2F3C7E"/>
                </a:solidFill>
                <a:latin typeface="Calibri" pitchFamily="34" charset="0"/>
                <a:ea typeface="Calibri" pitchFamily="34" charset="-122"/>
                <a:cs typeface="Calibri" pitchFamily="34" charset="-120"/>
              </a:rPr>
              <a:t>Product Recommendation Module</a:t>
            </a:r>
            <a:endParaRPr lang="en-US" sz="1250" dirty="0"/>
          </a:p>
        </p:txBody>
      </p:sp>
      <p:pic>
        <p:nvPicPr>
          <p:cNvPr id="7" name="Image 0" descr="/home/claude/proj/img-000.png">    </p:cNvPr>
          <p:cNvPicPr>
            <a:picLocks noChangeAspect="1"/>
          </p:cNvPicPr>
          <p:nvPr/>
        </p:nvPicPr>
        <p:blipFill>
          <a:blip r:embed="rId1"/>
          <a:srcRect l="0" r="0" t="0" b="0"/>
          <a:stretch/>
        </p:blipFill>
        <p:spPr>
          <a:xfrm>
            <a:off x="777240" y="2514600"/>
            <a:ext cx="5029200" cy="3703320"/>
          </a:xfrm>
          <a:prstGeom prst="rect">
            <a:avLst/>
          </a:prstGeom>
        </p:spPr>
      </p:pic>
      <p:sp>
        <p:nvSpPr>
          <p:cNvPr id="8" name="Shape 5"/>
          <p:cNvSpPr/>
          <p:nvPr/>
        </p:nvSpPr>
        <p:spPr>
          <a:xfrm>
            <a:off x="6172200" y="2011680"/>
            <a:ext cx="5486400" cy="4343400"/>
          </a:xfrm>
          <a:prstGeom prst="roundRect">
            <a:avLst>
              <a:gd name="adj" fmla="val 2105"/>
            </a:avLst>
          </a:prstGeom>
          <a:solidFill>
            <a:srgbClr val="FFFFFF"/>
          </a:solidFill>
          <a:ln/>
          <a:effectLst>
            <a:outerShdw sx="100000" sy="100000" kx="0" ky="0" algn="bl" rotWithShape="0" blurRad="101600" dist="38100" dir="2700000">
              <a:srgbClr val="1A1A2E">
                <a:alpha val="12000"/>
              </a:srgbClr>
            </a:outerShdw>
          </a:effectLst>
        </p:spPr>
      </p:sp>
      <p:sp>
        <p:nvSpPr>
          <p:cNvPr id="9" name="Text 6"/>
          <p:cNvSpPr/>
          <p:nvPr/>
        </p:nvSpPr>
        <p:spPr>
          <a:xfrm>
            <a:off x="6400800" y="2148840"/>
            <a:ext cx="5029200" cy="320040"/>
          </a:xfrm>
          <a:prstGeom prst="rect">
            <a:avLst/>
          </a:prstGeom>
          <a:noFill/>
          <a:ln/>
        </p:spPr>
        <p:txBody>
          <a:bodyPr wrap="square" lIns="0" tIns="0" rIns="0" bIns="0" rtlCol="0" anchor="ctr"/>
          <a:lstStyle/>
          <a:p>
            <a:pPr indent="0" marL="0">
              <a:buNone/>
            </a:pPr>
            <a:r>
              <a:rPr lang="en-US" sz="1250" b="1" dirty="0">
                <a:solidFill>
                  <a:srgbClr val="2F3C7E"/>
                </a:solidFill>
                <a:latin typeface="Calibri" pitchFamily="34" charset="0"/>
                <a:ea typeface="Calibri" pitchFamily="34" charset="-122"/>
                <a:cs typeface="Calibri" pitchFamily="34" charset="-120"/>
              </a:rPr>
              <a:t>Customer Segmentation Module</a:t>
            </a:r>
            <a:endParaRPr lang="en-US" sz="1250" dirty="0"/>
          </a:p>
        </p:txBody>
      </p:sp>
      <p:pic>
        <p:nvPicPr>
          <p:cNvPr id="10" name="Image 1" descr="/home/claude/proj/img-001.png">    </p:cNvPr>
          <p:cNvPicPr>
            <a:picLocks noChangeAspect="1"/>
          </p:cNvPicPr>
          <p:nvPr/>
        </p:nvPicPr>
        <p:blipFill>
          <a:blip r:embed="rId2"/>
          <a:srcRect l="0" r="0" t="0" b="0"/>
          <a:stretch/>
        </p:blipFill>
        <p:spPr>
          <a:xfrm>
            <a:off x="6400800" y="2514600"/>
            <a:ext cx="5029200" cy="3703320"/>
          </a:xfrm>
          <a:prstGeom prst="rect">
            <a:avLst/>
          </a:prstGeom>
        </p:spPr>
      </p:pic>
      <p:sp>
        <p:nvSpPr>
          <p:cNvPr id="11" name="Text 7"/>
          <p:cNvSpPr/>
          <p:nvPr/>
        </p:nvSpPr>
        <p:spPr>
          <a:xfrm>
            <a:off x="457200" y="6473952"/>
            <a:ext cx="3657600" cy="274320"/>
          </a:xfrm>
          <a:prstGeom prst="rect">
            <a:avLst/>
          </a:prstGeom>
          <a:noFill/>
          <a:ln/>
        </p:spPr>
        <p:txBody>
          <a:bodyPr wrap="square" lIns="0" tIns="0" rIns="0" bIns="0" rtlCol="0" anchor="ctr"/>
          <a:lstStyle/>
          <a:p>
            <a:pPr indent="0" marL="0">
              <a:buNone/>
            </a:pPr>
            <a:r>
              <a:rPr lang="en-US" sz="900" spc="200" kern="0" dirty="0">
                <a:solidFill>
                  <a:srgbClr val="6B7186"/>
                </a:solidFill>
                <a:latin typeface="Calibri" pitchFamily="34" charset="0"/>
                <a:ea typeface="Calibri" pitchFamily="34" charset="-122"/>
                <a:cs typeface="Calibri" pitchFamily="34" charset="-120"/>
              </a:rPr>
              <a:t>SHOPPER SPECTRUM</a:t>
            </a:r>
            <a:endParaRPr lang="en-US" sz="900" dirty="0"/>
          </a:p>
        </p:txBody>
      </p:sp>
      <p:sp>
        <p:nvSpPr>
          <p:cNvPr id="12" name="Text 8"/>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718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lIns="0" tIns="0" rIns="0" bIns="0"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10  IMPLEMENTATION</a:t>
            </a:r>
            <a:endParaRPr lang="en-US" sz="1200" dirty="0"/>
          </a:p>
        </p:txBody>
      </p:sp>
      <p:sp>
        <p:nvSpPr>
          <p:cNvPr id="3" name="Text 1"/>
          <p:cNvSpPr/>
          <p:nvPr/>
        </p:nvSpPr>
        <p:spPr>
          <a:xfrm>
            <a:off x="548640" y="777240"/>
            <a:ext cx="10058400" cy="640080"/>
          </a:xfrm>
          <a:prstGeom prst="rect">
            <a:avLst/>
          </a:prstGeom>
          <a:noFill/>
          <a:ln/>
        </p:spPr>
        <p:txBody>
          <a:bodyPr wrap="square" lIns="0" tIns="0" rIns="0" bIns="0" rtlCol="0" anchor="ctr"/>
          <a:lstStyle/>
          <a:p>
            <a:pPr indent="0" marL="0">
              <a:buNone/>
            </a:pPr>
            <a:r>
              <a:rPr lang="en-US" sz="2700" b="1" dirty="0">
                <a:solidFill>
                  <a:srgbClr val="24263B"/>
                </a:solidFill>
                <a:latin typeface="Cambria" pitchFamily="34" charset="0"/>
                <a:ea typeface="Cambria" pitchFamily="34" charset="-122"/>
                <a:cs typeface="Cambria" pitchFamily="34" charset="-120"/>
              </a:rPr>
              <a:t>Project Structure &amp; Development Environment</a:t>
            </a:r>
            <a:endParaRPr lang="en-US" sz="2700" dirty="0"/>
          </a:p>
        </p:txBody>
      </p:sp>
      <p:sp>
        <p:nvSpPr>
          <p:cNvPr id="4" name="Shape 2"/>
          <p:cNvSpPr/>
          <p:nvPr/>
        </p:nvSpPr>
        <p:spPr>
          <a:xfrm>
            <a:off x="548640" y="1600200"/>
            <a:ext cx="7040880" cy="4709160"/>
          </a:xfrm>
          <a:prstGeom prst="roundRect">
            <a:avLst>
              <a:gd name="adj" fmla="val 1942"/>
            </a:avLst>
          </a:prstGeom>
          <a:solidFill>
            <a:srgbClr val="24263B"/>
          </a:solidFill>
          <a:ln/>
          <a:effectLst>
            <a:outerShdw sx="100000" sy="100000" kx="0" ky="0" algn="bl" rotWithShape="0" blurRad="101600" dist="38100" dir="2700000">
              <a:srgbClr val="1A1A2E">
                <a:alpha val="12000"/>
              </a:srgbClr>
            </a:outerShdw>
          </a:effectLst>
        </p:spPr>
      </p:sp>
      <p:pic>
        <p:nvPicPr>
          <p:cNvPr id="5" name="Image 0" descr="/home/claude/proj/1782932399965_image.png">    </p:cNvPr>
          <p:cNvPicPr>
            <a:picLocks noChangeAspect="1"/>
          </p:cNvPicPr>
          <p:nvPr/>
        </p:nvPicPr>
        <p:blipFill>
          <a:blip r:embed="rId1"/>
          <a:srcRect l="0" r="0" t="0" b="0"/>
          <a:stretch/>
        </p:blipFill>
        <p:spPr>
          <a:xfrm>
            <a:off x="731520" y="1783080"/>
            <a:ext cx="6675120" cy="4343400"/>
          </a:xfrm>
          <a:prstGeom prst="rect">
            <a:avLst/>
          </a:prstGeom>
        </p:spPr>
      </p:pic>
      <p:sp>
        <p:nvSpPr>
          <p:cNvPr id="6" name="Shape 3"/>
          <p:cNvSpPr/>
          <p:nvPr/>
        </p:nvSpPr>
        <p:spPr>
          <a:xfrm>
            <a:off x="7818120" y="1737360"/>
            <a:ext cx="502920" cy="502920"/>
          </a:xfrm>
          <a:prstGeom prst="ellipse">
            <a:avLst/>
          </a:prstGeom>
          <a:solidFill>
            <a:srgbClr val="F1F3FA"/>
          </a:solidFill>
          <a:ln/>
        </p:spPr>
      </p:sp>
      <p:pic>
        <p:nvPicPr>
          <p:cNvPr id="7" name="Image 1" descr="/home/claude/proj/icons/db_navy.png">    </p:cNvPr>
          <p:cNvPicPr>
            <a:picLocks noChangeAspect="1"/>
          </p:cNvPicPr>
          <p:nvPr/>
        </p:nvPicPr>
        <p:blipFill>
          <a:blip r:embed="rId2"/>
          <a:stretch>
            <a:fillRect/>
          </a:stretch>
        </p:blipFill>
        <p:spPr>
          <a:xfrm>
            <a:off x="7948879" y="1868119"/>
            <a:ext cx="241402" cy="241402"/>
          </a:xfrm>
          <a:prstGeom prst="rect">
            <a:avLst/>
          </a:prstGeom>
        </p:spPr>
      </p:pic>
      <p:sp>
        <p:nvSpPr>
          <p:cNvPr id="8" name="Text 4"/>
          <p:cNvSpPr/>
          <p:nvPr/>
        </p:nvSpPr>
        <p:spPr>
          <a:xfrm>
            <a:off x="8458200" y="1709928"/>
            <a:ext cx="3200400" cy="320040"/>
          </a:xfrm>
          <a:prstGeom prst="rect">
            <a:avLst/>
          </a:prstGeom>
          <a:noFill/>
          <a:ln/>
        </p:spPr>
        <p:txBody>
          <a:bodyPr wrap="square" lIns="0" tIns="0" rIns="0" bIns="0" rtlCol="0" anchor="ctr"/>
          <a:lstStyle/>
          <a:p>
            <a:pPr indent="0" marL="0">
              <a:buNone/>
            </a:pPr>
            <a:r>
              <a:rPr lang="en-US" sz="1350" b="1" dirty="0">
                <a:solidFill>
                  <a:srgbClr val="24263B"/>
                </a:solidFill>
                <a:latin typeface="Calibri" pitchFamily="34" charset="0"/>
                <a:ea typeface="Calibri" pitchFamily="34" charset="-122"/>
                <a:cs typeface="Calibri" pitchFamily="34" charset="-120"/>
              </a:rPr>
              <a:t>data/</a:t>
            </a:r>
            <a:endParaRPr lang="en-US" sz="1350" dirty="0"/>
          </a:p>
        </p:txBody>
      </p:sp>
      <p:sp>
        <p:nvSpPr>
          <p:cNvPr id="9" name="Text 5"/>
          <p:cNvSpPr/>
          <p:nvPr/>
        </p:nvSpPr>
        <p:spPr>
          <a:xfrm>
            <a:off x="8458200" y="2011680"/>
            <a:ext cx="3291840" cy="457200"/>
          </a:xfrm>
          <a:prstGeom prst="rect">
            <a:avLst/>
          </a:prstGeom>
          <a:noFill/>
          <a:ln/>
        </p:spPr>
        <p:txBody>
          <a:bodyPr wrap="square" lIns="0" tIns="0" rIns="0" bIns="0" rtlCol="0" anchor="ctr"/>
          <a:lstStyle/>
          <a:p>
            <a:pPr indent="0" marL="0">
              <a:buNone/>
            </a:pPr>
            <a:r>
              <a:rPr lang="en-US" sz="1050" dirty="0">
                <a:solidFill>
                  <a:srgbClr val="6B7186"/>
                </a:solidFill>
                <a:latin typeface="Calibri" pitchFamily="34" charset="0"/>
                <a:ea typeface="Calibri" pitchFamily="34" charset="-122"/>
                <a:cs typeface="Calibri" pitchFamily="34" charset="-120"/>
              </a:rPr>
              <a:t>Raw retail transaction CSV</a:t>
            </a:r>
            <a:endParaRPr lang="en-US" sz="1050" dirty="0"/>
          </a:p>
        </p:txBody>
      </p:sp>
      <p:sp>
        <p:nvSpPr>
          <p:cNvPr id="10" name="Shape 6"/>
          <p:cNvSpPr/>
          <p:nvPr/>
        </p:nvSpPr>
        <p:spPr>
          <a:xfrm>
            <a:off x="7818120" y="2788920"/>
            <a:ext cx="502920" cy="502920"/>
          </a:xfrm>
          <a:prstGeom prst="ellipse">
            <a:avLst/>
          </a:prstGeom>
          <a:solidFill>
            <a:srgbClr val="F1F3FA"/>
          </a:solidFill>
          <a:ln/>
        </p:spPr>
      </p:sp>
      <p:pic>
        <p:nvPicPr>
          <p:cNvPr id="11" name="Image 2" descr="/home/claude/proj/icons/laptop_navy.png">    </p:cNvPr>
          <p:cNvPicPr>
            <a:picLocks noChangeAspect="1"/>
          </p:cNvPicPr>
          <p:nvPr/>
        </p:nvPicPr>
        <p:blipFill>
          <a:blip r:embed="rId3"/>
          <a:stretch>
            <a:fillRect/>
          </a:stretch>
        </p:blipFill>
        <p:spPr>
          <a:xfrm>
            <a:off x="7948879" y="2919679"/>
            <a:ext cx="241402" cy="241402"/>
          </a:xfrm>
          <a:prstGeom prst="rect">
            <a:avLst/>
          </a:prstGeom>
        </p:spPr>
      </p:pic>
      <p:sp>
        <p:nvSpPr>
          <p:cNvPr id="12" name="Text 7"/>
          <p:cNvSpPr/>
          <p:nvPr/>
        </p:nvSpPr>
        <p:spPr>
          <a:xfrm>
            <a:off x="8458200" y="2761488"/>
            <a:ext cx="3200400" cy="320040"/>
          </a:xfrm>
          <a:prstGeom prst="rect">
            <a:avLst/>
          </a:prstGeom>
          <a:noFill/>
          <a:ln/>
        </p:spPr>
        <p:txBody>
          <a:bodyPr wrap="square" lIns="0" tIns="0" rIns="0" bIns="0" rtlCol="0" anchor="ctr"/>
          <a:lstStyle/>
          <a:p>
            <a:pPr indent="0" marL="0">
              <a:buNone/>
            </a:pPr>
            <a:r>
              <a:rPr lang="en-US" sz="1350" b="1" dirty="0">
                <a:solidFill>
                  <a:srgbClr val="24263B"/>
                </a:solidFill>
                <a:latin typeface="Calibri" pitchFamily="34" charset="0"/>
                <a:ea typeface="Calibri" pitchFamily="34" charset="-122"/>
                <a:cs typeface="Calibri" pitchFamily="34" charset="-120"/>
              </a:rPr>
              <a:t>notebooks/</a:t>
            </a:r>
            <a:endParaRPr lang="en-US" sz="1350" dirty="0"/>
          </a:p>
        </p:txBody>
      </p:sp>
      <p:sp>
        <p:nvSpPr>
          <p:cNvPr id="13" name="Text 8"/>
          <p:cNvSpPr/>
          <p:nvPr/>
        </p:nvSpPr>
        <p:spPr>
          <a:xfrm>
            <a:off x="8458200" y="3063240"/>
            <a:ext cx="3291840" cy="457200"/>
          </a:xfrm>
          <a:prstGeom prst="rect">
            <a:avLst/>
          </a:prstGeom>
          <a:noFill/>
          <a:ln/>
        </p:spPr>
        <p:txBody>
          <a:bodyPr wrap="square" lIns="0" tIns="0" rIns="0" bIns="0" rtlCol="0" anchor="ctr"/>
          <a:lstStyle/>
          <a:p>
            <a:pPr indent="0" marL="0">
              <a:buNone/>
            </a:pPr>
            <a:r>
              <a:rPr lang="en-US" sz="1050" dirty="0">
                <a:solidFill>
                  <a:srgbClr val="6B7186"/>
                </a:solidFill>
                <a:latin typeface="Calibri" pitchFamily="34" charset="0"/>
                <a:ea typeface="Calibri" pitchFamily="34" charset="-122"/>
                <a:cs typeface="Calibri" pitchFamily="34" charset="-120"/>
              </a:rPr>
              <a:t>Analysis notebook (EDA, RFM, clustering)</a:t>
            </a:r>
            <a:endParaRPr lang="en-US" sz="1050" dirty="0"/>
          </a:p>
        </p:txBody>
      </p:sp>
      <p:sp>
        <p:nvSpPr>
          <p:cNvPr id="14" name="Shape 9"/>
          <p:cNvSpPr/>
          <p:nvPr/>
        </p:nvSpPr>
        <p:spPr>
          <a:xfrm>
            <a:off x="7818120" y="3840480"/>
            <a:ext cx="502920" cy="502920"/>
          </a:xfrm>
          <a:prstGeom prst="ellipse">
            <a:avLst/>
          </a:prstGeom>
          <a:solidFill>
            <a:srgbClr val="F1F3FA"/>
          </a:solidFill>
          <a:ln/>
        </p:spPr>
      </p:sp>
      <p:pic>
        <p:nvPicPr>
          <p:cNvPr id="15" name="Image 3" descr="/home/claude/proj/icons/rocket_navy.png">    </p:cNvPr>
          <p:cNvPicPr>
            <a:picLocks noChangeAspect="1"/>
          </p:cNvPicPr>
          <p:nvPr/>
        </p:nvPicPr>
        <p:blipFill>
          <a:blip r:embed="rId4"/>
          <a:stretch>
            <a:fillRect/>
          </a:stretch>
        </p:blipFill>
        <p:spPr>
          <a:xfrm>
            <a:off x="7948879" y="3971239"/>
            <a:ext cx="241402" cy="241402"/>
          </a:xfrm>
          <a:prstGeom prst="rect">
            <a:avLst/>
          </a:prstGeom>
        </p:spPr>
      </p:pic>
      <p:sp>
        <p:nvSpPr>
          <p:cNvPr id="16" name="Text 10"/>
          <p:cNvSpPr/>
          <p:nvPr/>
        </p:nvSpPr>
        <p:spPr>
          <a:xfrm>
            <a:off x="8458200" y="3813048"/>
            <a:ext cx="3200400" cy="320040"/>
          </a:xfrm>
          <a:prstGeom prst="rect">
            <a:avLst/>
          </a:prstGeom>
          <a:noFill/>
          <a:ln/>
        </p:spPr>
        <p:txBody>
          <a:bodyPr wrap="square" lIns="0" tIns="0" rIns="0" bIns="0" rtlCol="0" anchor="ctr"/>
          <a:lstStyle/>
          <a:p>
            <a:pPr indent="0" marL="0">
              <a:buNone/>
            </a:pPr>
            <a:r>
              <a:rPr lang="en-US" sz="1350" b="1" dirty="0">
                <a:solidFill>
                  <a:srgbClr val="24263B"/>
                </a:solidFill>
                <a:latin typeface="Calibri" pitchFamily="34" charset="0"/>
                <a:ea typeface="Calibri" pitchFamily="34" charset="-122"/>
                <a:cs typeface="Calibri" pitchFamily="34" charset="-120"/>
              </a:rPr>
              <a:t>streamlit_app/</a:t>
            </a:r>
            <a:endParaRPr lang="en-US" sz="1350" dirty="0"/>
          </a:p>
        </p:txBody>
      </p:sp>
      <p:sp>
        <p:nvSpPr>
          <p:cNvPr id="17" name="Text 11"/>
          <p:cNvSpPr/>
          <p:nvPr/>
        </p:nvSpPr>
        <p:spPr>
          <a:xfrm>
            <a:off x="8458200" y="4114800"/>
            <a:ext cx="3291840" cy="457200"/>
          </a:xfrm>
          <a:prstGeom prst="rect">
            <a:avLst/>
          </a:prstGeom>
          <a:noFill/>
          <a:ln/>
        </p:spPr>
        <p:txBody>
          <a:bodyPr wrap="square" lIns="0" tIns="0" rIns="0" bIns="0" rtlCol="0" anchor="ctr"/>
          <a:lstStyle/>
          <a:p>
            <a:pPr indent="0" marL="0">
              <a:buNone/>
            </a:pPr>
            <a:r>
              <a:rPr lang="en-US" sz="1050" dirty="0">
                <a:solidFill>
                  <a:srgbClr val="6B7186"/>
                </a:solidFill>
                <a:latin typeface="Calibri" pitchFamily="34" charset="0"/>
                <a:ea typeface="Calibri" pitchFamily="34" charset="-122"/>
                <a:cs typeface="Calibri" pitchFamily="34" charset="-120"/>
              </a:rPr>
              <a:t>app.py — the deployed web app</a:t>
            </a:r>
            <a:endParaRPr lang="en-US" sz="1050" dirty="0"/>
          </a:p>
        </p:txBody>
      </p:sp>
      <p:sp>
        <p:nvSpPr>
          <p:cNvPr id="18" name="Shape 12"/>
          <p:cNvSpPr/>
          <p:nvPr/>
        </p:nvSpPr>
        <p:spPr>
          <a:xfrm>
            <a:off x="7818120" y="4892040"/>
            <a:ext cx="502920" cy="502920"/>
          </a:xfrm>
          <a:prstGeom prst="ellipse">
            <a:avLst/>
          </a:prstGeom>
          <a:solidFill>
            <a:srgbClr val="F1F3FA"/>
          </a:solidFill>
          <a:ln/>
        </p:spPr>
      </p:sp>
      <p:pic>
        <p:nvPicPr>
          <p:cNvPr id="19" name="Image 4" descr="/home/claude/proj/icons/check_coral.png">    </p:cNvPr>
          <p:cNvPicPr>
            <a:picLocks noChangeAspect="1"/>
          </p:cNvPicPr>
          <p:nvPr/>
        </p:nvPicPr>
        <p:blipFill>
          <a:blip r:embed="rId5"/>
          <a:stretch>
            <a:fillRect/>
          </a:stretch>
        </p:blipFill>
        <p:spPr>
          <a:xfrm>
            <a:off x="7948879" y="5022799"/>
            <a:ext cx="241402" cy="241402"/>
          </a:xfrm>
          <a:prstGeom prst="rect">
            <a:avLst/>
          </a:prstGeom>
        </p:spPr>
      </p:pic>
      <p:sp>
        <p:nvSpPr>
          <p:cNvPr id="20" name="Text 13"/>
          <p:cNvSpPr/>
          <p:nvPr/>
        </p:nvSpPr>
        <p:spPr>
          <a:xfrm>
            <a:off x="8458200" y="4864608"/>
            <a:ext cx="3200400" cy="320040"/>
          </a:xfrm>
          <a:prstGeom prst="rect">
            <a:avLst/>
          </a:prstGeom>
          <a:noFill/>
          <a:ln/>
        </p:spPr>
        <p:txBody>
          <a:bodyPr wrap="square" lIns="0" tIns="0" rIns="0" bIns="0" rtlCol="0" anchor="ctr"/>
          <a:lstStyle/>
          <a:p>
            <a:pPr indent="0" marL="0">
              <a:buNone/>
            </a:pPr>
            <a:r>
              <a:rPr lang="en-US" sz="1350" b="1" dirty="0">
                <a:solidFill>
                  <a:srgbClr val="24263B"/>
                </a:solidFill>
                <a:latin typeface="Calibri" pitchFamily="34" charset="0"/>
                <a:ea typeface="Calibri" pitchFamily="34" charset="-122"/>
                <a:cs typeface="Calibri" pitchFamily="34" charset="-120"/>
              </a:rPr>
              <a:t>README + requirements.txt</a:t>
            </a:r>
            <a:endParaRPr lang="en-US" sz="1350" dirty="0"/>
          </a:p>
        </p:txBody>
      </p:sp>
      <p:sp>
        <p:nvSpPr>
          <p:cNvPr id="21" name="Text 14"/>
          <p:cNvSpPr/>
          <p:nvPr/>
        </p:nvSpPr>
        <p:spPr>
          <a:xfrm>
            <a:off x="8458200" y="5166360"/>
            <a:ext cx="3291840" cy="457200"/>
          </a:xfrm>
          <a:prstGeom prst="rect">
            <a:avLst/>
          </a:prstGeom>
          <a:noFill/>
          <a:ln/>
        </p:spPr>
        <p:txBody>
          <a:bodyPr wrap="square" lIns="0" tIns="0" rIns="0" bIns="0" rtlCol="0" anchor="ctr"/>
          <a:lstStyle/>
          <a:p>
            <a:pPr indent="0" marL="0">
              <a:buNone/>
            </a:pPr>
            <a:r>
              <a:rPr lang="en-US" sz="1050" dirty="0">
                <a:solidFill>
                  <a:srgbClr val="6B7186"/>
                </a:solidFill>
                <a:latin typeface="Calibri" pitchFamily="34" charset="0"/>
                <a:ea typeface="Calibri" pitchFamily="34" charset="-122"/>
                <a:cs typeface="Calibri" pitchFamily="34" charset="-120"/>
              </a:rPr>
              <a:t>Documentation &amp; dependencies</a:t>
            </a:r>
            <a:endParaRPr lang="en-US" sz="1050" dirty="0"/>
          </a:p>
        </p:txBody>
      </p:sp>
      <p:sp>
        <p:nvSpPr>
          <p:cNvPr id="22" name="Text 15"/>
          <p:cNvSpPr/>
          <p:nvPr/>
        </p:nvSpPr>
        <p:spPr>
          <a:xfrm>
            <a:off x="457200" y="6473952"/>
            <a:ext cx="3657600" cy="274320"/>
          </a:xfrm>
          <a:prstGeom prst="rect">
            <a:avLst/>
          </a:prstGeom>
          <a:noFill/>
          <a:ln/>
        </p:spPr>
        <p:txBody>
          <a:bodyPr wrap="square" lIns="0" tIns="0" rIns="0" bIns="0" rtlCol="0" anchor="ctr"/>
          <a:lstStyle/>
          <a:p>
            <a:pPr indent="0" marL="0">
              <a:buNone/>
            </a:pPr>
            <a:r>
              <a:rPr lang="en-US" sz="900" spc="200" kern="0" dirty="0">
                <a:solidFill>
                  <a:srgbClr val="6B7186"/>
                </a:solidFill>
                <a:latin typeface="Calibri" pitchFamily="34" charset="0"/>
                <a:ea typeface="Calibri" pitchFamily="34" charset="-122"/>
                <a:cs typeface="Calibri" pitchFamily="34" charset="-120"/>
              </a:rPr>
              <a:t>SHOPPER SPECTRUM</a:t>
            </a:r>
            <a:endParaRPr lang="en-US" sz="900" dirty="0"/>
          </a:p>
        </p:txBody>
      </p:sp>
      <p:sp>
        <p:nvSpPr>
          <p:cNvPr id="23" name="Text 16"/>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718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32C5E"/>
        </a:solidFill>
      </p:bgPr>
    </p:bg>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lIns="0" tIns="0" rIns="0" bIns="0" rtlCol="0" anchor="ctr"/>
          <a:lstStyle/>
          <a:p>
            <a:pPr indent="0" marL="0">
              <a:buNone/>
            </a:pPr>
            <a:r>
              <a:rPr lang="en-US" sz="1200" b="1" spc="200" kern="0" dirty="0">
                <a:solidFill>
                  <a:srgbClr val="F9E795"/>
                </a:solidFill>
                <a:latin typeface="Calibri" pitchFamily="34" charset="0"/>
                <a:ea typeface="Calibri" pitchFamily="34" charset="-122"/>
                <a:cs typeface="Calibri" pitchFamily="34" charset="-120"/>
              </a:rPr>
              <a:t>11  TECHNICAL TAGS</a:t>
            </a:r>
            <a:endParaRPr lang="en-US" sz="1200" dirty="0"/>
          </a:p>
        </p:txBody>
      </p:sp>
      <p:sp>
        <p:nvSpPr>
          <p:cNvPr id="3" name="Text 1"/>
          <p:cNvSpPr/>
          <p:nvPr/>
        </p:nvSpPr>
        <p:spPr>
          <a:xfrm>
            <a:off x="548640" y="77724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Tools &amp; Techniques Used</a:t>
            </a:r>
            <a:endParaRPr lang="en-US" sz="3000" dirty="0"/>
          </a:p>
        </p:txBody>
      </p:sp>
      <p:sp>
        <p:nvSpPr>
          <p:cNvPr id="4" name="Shape 2"/>
          <p:cNvSpPr/>
          <p:nvPr/>
        </p:nvSpPr>
        <p:spPr>
          <a:xfrm>
            <a:off x="548640" y="1828800"/>
            <a:ext cx="868680" cy="566928"/>
          </a:xfrm>
          <a:prstGeom prst="roundRect">
            <a:avLst>
              <a:gd name="adj" fmla="val 50000"/>
            </a:avLst>
          </a:prstGeom>
          <a:solidFill>
            <a:srgbClr val="2F3C7E"/>
          </a:solidFill>
          <a:ln/>
        </p:spPr>
      </p:sp>
      <p:sp>
        <p:nvSpPr>
          <p:cNvPr id="5" name="Text 3"/>
          <p:cNvSpPr/>
          <p:nvPr/>
        </p:nvSpPr>
        <p:spPr>
          <a:xfrm>
            <a:off x="548640" y="1828800"/>
            <a:ext cx="868680" cy="5669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Pandas</a:t>
            </a:r>
            <a:endParaRPr lang="en-US" sz="1200" dirty="0"/>
          </a:p>
        </p:txBody>
      </p:sp>
      <p:sp>
        <p:nvSpPr>
          <p:cNvPr id="6" name="Shape 4"/>
          <p:cNvSpPr/>
          <p:nvPr/>
        </p:nvSpPr>
        <p:spPr>
          <a:xfrm>
            <a:off x="1563624" y="1828800"/>
            <a:ext cx="772668" cy="566928"/>
          </a:xfrm>
          <a:prstGeom prst="roundRect">
            <a:avLst>
              <a:gd name="adj" fmla="val 50000"/>
            </a:avLst>
          </a:prstGeom>
          <a:solidFill>
            <a:srgbClr val="2F3C7E"/>
          </a:solidFill>
          <a:ln/>
        </p:spPr>
      </p:sp>
      <p:sp>
        <p:nvSpPr>
          <p:cNvPr id="7" name="Text 5"/>
          <p:cNvSpPr/>
          <p:nvPr/>
        </p:nvSpPr>
        <p:spPr>
          <a:xfrm>
            <a:off x="1563624" y="1828800"/>
            <a:ext cx="772668" cy="5669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NumPy</a:t>
            </a:r>
            <a:endParaRPr lang="en-US" sz="1200" dirty="0"/>
          </a:p>
        </p:txBody>
      </p:sp>
      <p:sp>
        <p:nvSpPr>
          <p:cNvPr id="8" name="Shape 6"/>
          <p:cNvSpPr/>
          <p:nvPr/>
        </p:nvSpPr>
        <p:spPr>
          <a:xfrm>
            <a:off x="2482596" y="1828800"/>
            <a:ext cx="1540764" cy="566928"/>
          </a:xfrm>
          <a:prstGeom prst="roundRect">
            <a:avLst>
              <a:gd name="adj" fmla="val 50000"/>
            </a:avLst>
          </a:prstGeom>
          <a:solidFill>
            <a:srgbClr val="2F3C7E"/>
          </a:solidFill>
          <a:ln/>
        </p:spPr>
      </p:sp>
      <p:sp>
        <p:nvSpPr>
          <p:cNvPr id="9" name="Text 7"/>
          <p:cNvSpPr/>
          <p:nvPr/>
        </p:nvSpPr>
        <p:spPr>
          <a:xfrm>
            <a:off x="2482596" y="1828800"/>
            <a:ext cx="1540764" cy="5669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Data Cleaning</a:t>
            </a:r>
            <a:endParaRPr lang="en-US" sz="1200" dirty="0"/>
          </a:p>
        </p:txBody>
      </p:sp>
      <p:sp>
        <p:nvSpPr>
          <p:cNvPr id="10" name="Shape 8"/>
          <p:cNvSpPr/>
          <p:nvPr/>
        </p:nvSpPr>
        <p:spPr>
          <a:xfrm>
            <a:off x="4169664" y="1828800"/>
            <a:ext cx="2116836" cy="566928"/>
          </a:xfrm>
          <a:prstGeom prst="roundRect">
            <a:avLst>
              <a:gd name="adj" fmla="val 50000"/>
            </a:avLst>
          </a:prstGeom>
          <a:solidFill>
            <a:srgbClr val="2F3C7E"/>
          </a:solidFill>
          <a:ln/>
        </p:spPr>
      </p:sp>
      <p:sp>
        <p:nvSpPr>
          <p:cNvPr id="11" name="Text 9"/>
          <p:cNvSpPr/>
          <p:nvPr/>
        </p:nvSpPr>
        <p:spPr>
          <a:xfrm>
            <a:off x="4169664" y="1828800"/>
            <a:ext cx="2116836" cy="5669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Feature Engineering</a:t>
            </a:r>
            <a:endParaRPr lang="en-US" sz="1200" dirty="0"/>
          </a:p>
        </p:txBody>
      </p:sp>
      <p:sp>
        <p:nvSpPr>
          <p:cNvPr id="12" name="Shape 10"/>
          <p:cNvSpPr/>
          <p:nvPr/>
        </p:nvSpPr>
        <p:spPr>
          <a:xfrm>
            <a:off x="6432804" y="1828800"/>
            <a:ext cx="580644" cy="566928"/>
          </a:xfrm>
          <a:prstGeom prst="roundRect">
            <a:avLst>
              <a:gd name="adj" fmla="val 50000"/>
            </a:avLst>
          </a:prstGeom>
          <a:solidFill>
            <a:srgbClr val="2F3C7E"/>
          </a:solidFill>
          <a:ln/>
        </p:spPr>
      </p:sp>
      <p:sp>
        <p:nvSpPr>
          <p:cNvPr id="13" name="Text 11"/>
          <p:cNvSpPr/>
          <p:nvPr/>
        </p:nvSpPr>
        <p:spPr>
          <a:xfrm>
            <a:off x="6432804" y="1828800"/>
            <a:ext cx="580644" cy="5669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EDA</a:t>
            </a:r>
            <a:endParaRPr lang="en-US" sz="1200" dirty="0"/>
          </a:p>
        </p:txBody>
      </p:sp>
      <p:sp>
        <p:nvSpPr>
          <p:cNvPr id="14" name="Shape 12"/>
          <p:cNvSpPr/>
          <p:nvPr/>
        </p:nvSpPr>
        <p:spPr>
          <a:xfrm>
            <a:off x="7159752" y="1828800"/>
            <a:ext cx="1444752" cy="566928"/>
          </a:xfrm>
          <a:prstGeom prst="roundRect">
            <a:avLst>
              <a:gd name="adj" fmla="val 50000"/>
            </a:avLst>
          </a:prstGeom>
          <a:solidFill>
            <a:srgbClr val="2F3C7E"/>
          </a:solidFill>
          <a:ln/>
        </p:spPr>
      </p:sp>
      <p:sp>
        <p:nvSpPr>
          <p:cNvPr id="15" name="Text 13"/>
          <p:cNvSpPr/>
          <p:nvPr/>
        </p:nvSpPr>
        <p:spPr>
          <a:xfrm>
            <a:off x="7159752" y="1828800"/>
            <a:ext cx="1444752" cy="5669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RFM Analysis</a:t>
            </a:r>
            <a:endParaRPr lang="en-US" sz="1200" dirty="0"/>
          </a:p>
        </p:txBody>
      </p:sp>
      <p:sp>
        <p:nvSpPr>
          <p:cNvPr id="16" name="Shape 14"/>
          <p:cNvSpPr/>
          <p:nvPr/>
        </p:nvSpPr>
        <p:spPr>
          <a:xfrm>
            <a:off x="8750808" y="1828800"/>
            <a:ext cx="2308860" cy="566928"/>
          </a:xfrm>
          <a:prstGeom prst="roundRect">
            <a:avLst>
              <a:gd name="adj" fmla="val 50000"/>
            </a:avLst>
          </a:prstGeom>
          <a:solidFill>
            <a:srgbClr val="2F3C7E"/>
          </a:solidFill>
          <a:ln/>
        </p:spPr>
      </p:sp>
      <p:sp>
        <p:nvSpPr>
          <p:cNvPr id="17" name="Text 15"/>
          <p:cNvSpPr/>
          <p:nvPr/>
        </p:nvSpPr>
        <p:spPr>
          <a:xfrm>
            <a:off x="8750808" y="1828800"/>
            <a:ext cx="2308860" cy="5669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Customer Segmentation</a:t>
            </a:r>
            <a:endParaRPr lang="en-US" sz="1200" dirty="0"/>
          </a:p>
        </p:txBody>
      </p:sp>
      <p:sp>
        <p:nvSpPr>
          <p:cNvPr id="18" name="Shape 16"/>
          <p:cNvSpPr/>
          <p:nvPr/>
        </p:nvSpPr>
        <p:spPr>
          <a:xfrm>
            <a:off x="548640" y="2596896"/>
            <a:ext cx="2020824" cy="566928"/>
          </a:xfrm>
          <a:prstGeom prst="roundRect">
            <a:avLst>
              <a:gd name="adj" fmla="val 50000"/>
            </a:avLst>
          </a:prstGeom>
          <a:solidFill>
            <a:srgbClr val="2F3C7E"/>
          </a:solidFill>
          <a:ln/>
        </p:spPr>
      </p:sp>
      <p:sp>
        <p:nvSpPr>
          <p:cNvPr id="19" name="Text 17"/>
          <p:cNvSpPr/>
          <p:nvPr/>
        </p:nvSpPr>
        <p:spPr>
          <a:xfrm>
            <a:off x="548640" y="2596896"/>
            <a:ext cx="2020824" cy="5669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K-Means Clustering</a:t>
            </a:r>
            <a:endParaRPr lang="en-US" sz="1200" dirty="0"/>
          </a:p>
        </p:txBody>
      </p:sp>
      <p:sp>
        <p:nvSpPr>
          <p:cNvPr id="20" name="Shape 18"/>
          <p:cNvSpPr/>
          <p:nvPr/>
        </p:nvSpPr>
        <p:spPr>
          <a:xfrm>
            <a:off x="2715768" y="2596896"/>
            <a:ext cx="2500884" cy="566928"/>
          </a:xfrm>
          <a:prstGeom prst="roundRect">
            <a:avLst>
              <a:gd name="adj" fmla="val 50000"/>
            </a:avLst>
          </a:prstGeom>
          <a:solidFill>
            <a:srgbClr val="2F3C7E"/>
          </a:solidFill>
          <a:ln/>
        </p:spPr>
      </p:sp>
      <p:sp>
        <p:nvSpPr>
          <p:cNvPr id="21" name="Text 19"/>
          <p:cNvSpPr/>
          <p:nvPr/>
        </p:nvSpPr>
        <p:spPr>
          <a:xfrm>
            <a:off x="2715768" y="2596896"/>
            <a:ext cx="2500884" cy="5669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Collaborative Filtering</a:t>
            </a:r>
            <a:endParaRPr lang="en-US" sz="1200" dirty="0"/>
          </a:p>
        </p:txBody>
      </p:sp>
      <p:sp>
        <p:nvSpPr>
          <p:cNvPr id="22" name="Shape 20"/>
          <p:cNvSpPr/>
          <p:nvPr/>
        </p:nvSpPr>
        <p:spPr>
          <a:xfrm>
            <a:off x="5362956" y="2596896"/>
            <a:ext cx="1924812" cy="566928"/>
          </a:xfrm>
          <a:prstGeom prst="roundRect">
            <a:avLst>
              <a:gd name="adj" fmla="val 50000"/>
            </a:avLst>
          </a:prstGeom>
          <a:solidFill>
            <a:srgbClr val="2F3C7E"/>
          </a:solidFill>
          <a:ln/>
        </p:spPr>
      </p:sp>
      <p:sp>
        <p:nvSpPr>
          <p:cNvPr id="23" name="Text 21"/>
          <p:cNvSpPr/>
          <p:nvPr/>
        </p:nvSpPr>
        <p:spPr>
          <a:xfrm>
            <a:off x="5362956" y="2596896"/>
            <a:ext cx="1924812" cy="5669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Cosine Similarity</a:t>
            </a:r>
            <a:endParaRPr lang="en-US" sz="1200" dirty="0"/>
          </a:p>
        </p:txBody>
      </p:sp>
      <p:sp>
        <p:nvSpPr>
          <p:cNvPr id="24" name="Shape 22"/>
          <p:cNvSpPr/>
          <p:nvPr/>
        </p:nvSpPr>
        <p:spPr>
          <a:xfrm>
            <a:off x="7434072" y="2596896"/>
            <a:ext cx="2404872" cy="566928"/>
          </a:xfrm>
          <a:prstGeom prst="roundRect">
            <a:avLst>
              <a:gd name="adj" fmla="val 50000"/>
            </a:avLst>
          </a:prstGeom>
          <a:solidFill>
            <a:srgbClr val="2F3C7E"/>
          </a:solidFill>
          <a:ln/>
        </p:spPr>
      </p:sp>
      <p:sp>
        <p:nvSpPr>
          <p:cNvPr id="25" name="Text 23"/>
          <p:cNvSpPr/>
          <p:nvPr/>
        </p:nvSpPr>
        <p:spPr>
          <a:xfrm>
            <a:off x="7434072" y="2596896"/>
            <a:ext cx="2404872" cy="5669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Product Recommendation</a:t>
            </a:r>
            <a:endParaRPr lang="en-US" sz="1200" dirty="0"/>
          </a:p>
        </p:txBody>
      </p:sp>
      <p:sp>
        <p:nvSpPr>
          <p:cNvPr id="26" name="Shape 24"/>
          <p:cNvSpPr/>
          <p:nvPr/>
        </p:nvSpPr>
        <p:spPr>
          <a:xfrm>
            <a:off x="9985248" y="2596896"/>
            <a:ext cx="1444752" cy="566928"/>
          </a:xfrm>
          <a:prstGeom prst="roundRect">
            <a:avLst>
              <a:gd name="adj" fmla="val 50000"/>
            </a:avLst>
          </a:prstGeom>
          <a:solidFill>
            <a:srgbClr val="2F3C7E"/>
          </a:solidFill>
          <a:ln/>
        </p:spPr>
      </p:sp>
      <p:sp>
        <p:nvSpPr>
          <p:cNvPr id="27" name="Text 25"/>
          <p:cNvSpPr/>
          <p:nvPr/>
        </p:nvSpPr>
        <p:spPr>
          <a:xfrm>
            <a:off x="9985248" y="2596896"/>
            <a:ext cx="1444752" cy="5669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Scikit-Learn</a:t>
            </a:r>
            <a:endParaRPr lang="en-US" sz="1200" dirty="0"/>
          </a:p>
        </p:txBody>
      </p:sp>
      <p:sp>
        <p:nvSpPr>
          <p:cNvPr id="28" name="Shape 26"/>
          <p:cNvSpPr/>
          <p:nvPr/>
        </p:nvSpPr>
        <p:spPr>
          <a:xfrm>
            <a:off x="548640" y="3364992"/>
            <a:ext cx="1636776" cy="566928"/>
          </a:xfrm>
          <a:prstGeom prst="roundRect">
            <a:avLst>
              <a:gd name="adj" fmla="val 50000"/>
            </a:avLst>
          </a:prstGeom>
          <a:solidFill>
            <a:srgbClr val="2F3C7E"/>
          </a:solidFill>
          <a:ln/>
        </p:spPr>
      </p:sp>
      <p:sp>
        <p:nvSpPr>
          <p:cNvPr id="29" name="Text 27"/>
          <p:cNvSpPr/>
          <p:nvPr/>
        </p:nvSpPr>
        <p:spPr>
          <a:xfrm>
            <a:off x="548640" y="3364992"/>
            <a:ext cx="1636776" cy="5669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StandardScaler</a:t>
            </a:r>
            <a:endParaRPr lang="en-US" sz="1200" dirty="0"/>
          </a:p>
        </p:txBody>
      </p:sp>
      <p:sp>
        <p:nvSpPr>
          <p:cNvPr id="30" name="Shape 28"/>
          <p:cNvSpPr/>
          <p:nvPr/>
        </p:nvSpPr>
        <p:spPr>
          <a:xfrm>
            <a:off x="2331720" y="3364992"/>
            <a:ext cx="1156716" cy="566928"/>
          </a:xfrm>
          <a:prstGeom prst="roundRect">
            <a:avLst>
              <a:gd name="adj" fmla="val 50000"/>
            </a:avLst>
          </a:prstGeom>
          <a:solidFill>
            <a:srgbClr val="2F3C7E"/>
          </a:solidFill>
          <a:ln/>
        </p:spPr>
      </p:sp>
      <p:sp>
        <p:nvSpPr>
          <p:cNvPr id="31" name="Text 29"/>
          <p:cNvSpPr/>
          <p:nvPr/>
        </p:nvSpPr>
        <p:spPr>
          <a:xfrm>
            <a:off x="2331720" y="3364992"/>
            <a:ext cx="1156716" cy="5669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Streamlit</a:t>
            </a:r>
            <a:endParaRPr lang="en-US" sz="1200" dirty="0"/>
          </a:p>
        </p:txBody>
      </p:sp>
      <p:sp>
        <p:nvSpPr>
          <p:cNvPr id="32" name="Shape 30"/>
          <p:cNvSpPr/>
          <p:nvPr/>
        </p:nvSpPr>
        <p:spPr>
          <a:xfrm>
            <a:off x="3634740" y="3364992"/>
            <a:ext cx="1828800" cy="566928"/>
          </a:xfrm>
          <a:prstGeom prst="roundRect">
            <a:avLst>
              <a:gd name="adj" fmla="val 50000"/>
            </a:avLst>
          </a:prstGeom>
          <a:solidFill>
            <a:srgbClr val="2F3C7E"/>
          </a:solidFill>
          <a:ln/>
        </p:spPr>
      </p:sp>
      <p:sp>
        <p:nvSpPr>
          <p:cNvPr id="33" name="Text 31"/>
          <p:cNvSpPr/>
          <p:nvPr/>
        </p:nvSpPr>
        <p:spPr>
          <a:xfrm>
            <a:off x="3634740" y="3364992"/>
            <a:ext cx="1828800" cy="5669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Machine Learning</a:t>
            </a:r>
            <a:endParaRPr lang="en-US" sz="1200" dirty="0"/>
          </a:p>
        </p:txBody>
      </p:sp>
      <p:sp>
        <p:nvSpPr>
          <p:cNvPr id="34" name="Shape 32"/>
          <p:cNvSpPr/>
          <p:nvPr/>
        </p:nvSpPr>
        <p:spPr>
          <a:xfrm>
            <a:off x="5609844" y="3364992"/>
            <a:ext cx="2020824" cy="566928"/>
          </a:xfrm>
          <a:prstGeom prst="roundRect">
            <a:avLst>
              <a:gd name="adj" fmla="val 50000"/>
            </a:avLst>
          </a:prstGeom>
          <a:solidFill>
            <a:srgbClr val="2F3C7E"/>
          </a:solidFill>
          <a:ln/>
        </p:spPr>
      </p:sp>
      <p:sp>
        <p:nvSpPr>
          <p:cNvPr id="35" name="Text 33"/>
          <p:cNvSpPr/>
          <p:nvPr/>
        </p:nvSpPr>
        <p:spPr>
          <a:xfrm>
            <a:off x="5609844" y="3364992"/>
            <a:ext cx="2020824" cy="5669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Data Visualization</a:t>
            </a:r>
            <a:endParaRPr lang="en-US" sz="1200" dirty="0"/>
          </a:p>
        </p:txBody>
      </p:sp>
      <p:sp>
        <p:nvSpPr>
          <p:cNvPr id="36" name="Shape 34"/>
          <p:cNvSpPr/>
          <p:nvPr/>
        </p:nvSpPr>
        <p:spPr>
          <a:xfrm>
            <a:off x="7776972" y="3364992"/>
            <a:ext cx="1444752" cy="566928"/>
          </a:xfrm>
          <a:prstGeom prst="roundRect">
            <a:avLst>
              <a:gd name="adj" fmla="val 50000"/>
            </a:avLst>
          </a:prstGeom>
          <a:solidFill>
            <a:srgbClr val="2F3C7E"/>
          </a:solidFill>
          <a:ln/>
        </p:spPr>
      </p:sp>
      <p:sp>
        <p:nvSpPr>
          <p:cNvPr id="37" name="Text 35"/>
          <p:cNvSpPr/>
          <p:nvPr/>
        </p:nvSpPr>
        <p:spPr>
          <a:xfrm>
            <a:off x="7776972" y="3364992"/>
            <a:ext cx="1444752" cy="5669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Pivot Tables</a:t>
            </a:r>
            <a:endParaRPr lang="en-US" sz="1200" dirty="0"/>
          </a:p>
        </p:txBody>
      </p:sp>
      <p:sp>
        <p:nvSpPr>
          <p:cNvPr id="38" name="Shape 36"/>
          <p:cNvSpPr/>
          <p:nvPr/>
        </p:nvSpPr>
        <p:spPr>
          <a:xfrm>
            <a:off x="9368028" y="3364992"/>
            <a:ext cx="2212848" cy="566928"/>
          </a:xfrm>
          <a:prstGeom prst="roundRect">
            <a:avLst>
              <a:gd name="adj" fmla="val 50000"/>
            </a:avLst>
          </a:prstGeom>
          <a:solidFill>
            <a:srgbClr val="2F3C7E"/>
          </a:solidFill>
          <a:ln/>
        </p:spPr>
      </p:sp>
      <p:sp>
        <p:nvSpPr>
          <p:cNvPr id="39" name="Text 37"/>
          <p:cNvSpPr/>
          <p:nvPr/>
        </p:nvSpPr>
        <p:spPr>
          <a:xfrm>
            <a:off x="9368028" y="3364992"/>
            <a:ext cx="2212848" cy="5669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Real-Time Prediction</a:t>
            </a:r>
            <a:endParaRPr lang="en-US" sz="1200" dirty="0"/>
          </a:p>
        </p:txBody>
      </p:sp>
      <p:sp>
        <p:nvSpPr>
          <p:cNvPr id="40" name="Text 38"/>
          <p:cNvSpPr/>
          <p:nvPr/>
        </p:nvSpPr>
        <p:spPr>
          <a:xfrm>
            <a:off x="457200" y="6473952"/>
            <a:ext cx="3657600" cy="274320"/>
          </a:xfrm>
          <a:prstGeom prst="rect">
            <a:avLst/>
          </a:prstGeom>
          <a:noFill/>
          <a:ln/>
        </p:spPr>
        <p:txBody>
          <a:bodyPr wrap="square" lIns="0" tIns="0" rIns="0" bIns="0" rtlCol="0" anchor="ctr"/>
          <a:lstStyle/>
          <a:p>
            <a:pPr indent="0" marL="0">
              <a:buNone/>
            </a:pPr>
            <a:r>
              <a:rPr lang="en-US" sz="900" spc="200" kern="0" dirty="0">
                <a:solidFill>
                  <a:srgbClr val="9AA0C8"/>
                </a:solidFill>
                <a:latin typeface="Calibri" pitchFamily="34" charset="0"/>
                <a:ea typeface="Calibri" pitchFamily="34" charset="-122"/>
                <a:cs typeface="Calibri" pitchFamily="34" charset="-120"/>
              </a:rPr>
              <a:t>SHOPPER SPECTRUM</a:t>
            </a:r>
            <a:endParaRPr lang="en-US" sz="900" dirty="0"/>
          </a:p>
        </p:txBody>
      </p:sp>
      <p:sp>
        <p:nvSpPr>
          <p:cNvPr id="41" name="Text 39"/>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9AA0C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lIns="0" tIns="0" rIns="0" bIns="0"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12  DELIVERABLES</a:t>
            </a:r>
            <a:endParaRPr lang="en-US" sz="1200" dirty="0"/>
          </a:p>
        </p:txBody>
      </p:sp>
      <p:sp>
        <p:nvSpPr>
          <p:cNvPr id="3" name="Text 1"/>
          <p:cNvSpPr/>
          <p:nvPr/>
        </p:nvSpPr>
        <p:spPr>
          <a:xfrm>
            <a:off x="548640" y="777240"/>
            <a:ext cx="9601200" cy="640080"/>
          </a:xfrm>
          <a:prstGeom prst="rect">
            <a:avLst/>
          </a:prstGeom>
          <a:noFill/>
          <a:ln/>
        </p:spPr>
        <p:txBody>
          <a:bodyPr wrap="square" lIns="0" tIns="0" rIns="0" bIns="0" rtlCol="0" anchor="ctr"/>
          <a:lstStyle/>
          <a:p>
            <a:pPr indent="0" marL="0">
              <a:buNone/>
            </a:pPr>
            <a:r>
              <a:rPr lang="en-US" sz="3000" b="1" dirty="0">
                <a:solidFill>
                  <a:srgbClr val="24263B"/>
                </a:solidFill>
                <a:latin typeface="Cambria" pitchFamily="34" charset="0"/>
                <a:ea typeface="Cambria" pitchFamily="34" charset="-122"/>
                <a:cs typeface="Cambria" pitchFamily="34" charset="-120"/>
              </a:rPr>
              <a:t>Project Outcomes &amp; Deliverables</a:t>
            </a:r>
            <a:endParaRPr lang="en-US" sz="3000" dirty="0"/>
          </a:p>
        </p:txBody>
      </p:sp>
      <p:sp>
        <p:nvSpPr>
          <p:cNvPr id="4" name="Shape 2"/>
          <p:cNvSpPr/>
          <p:nvPr/>
        </p:nvSpPr>
        <p:spPr>
          <a:xfrm>
            <a:off x="548640" y="1691640"/>
            <a:ext cx="5486400" cy="4160520"/>
          </a:xfrm>
          <a:prstGeom prst="roundRect">
            <a:avLst>
              <a:gd name="adj" fmla="val 2198"/>
            </a:avLst>
          </a:prstGeom>
          <a:solidFill>
            <a:srgbClr val="F1F3FA"/>
          </a:solidFill>
          <a:ln/>
          <a:effectLst>
            <a:outerShdw sx="100000" sy="100000" kx="0" ky="0" algn="bl" rotWithShape="0" blurRad="101600" dist="38100" dir="2700000">
              <a:srgbClr val="1A1A2E">
                <a:alpha val="12000"/>
              </a:srgbClr>
            </a:outerShdw>
          </a:effectLst>
        </p:spPr>
      </p:sp>
      <p:sp>
        <p:nvSpPr>
          <p:cNvPr id="5" name="Shape 3"/>
          <p:cNvSpPr/>
          <p:nvPr/>
        </p:nvSpPr>
        <p:spPr>
          <a:xfrm>
            <a:off x="822960" y="1965960"/>
            <a:ext cx="640080" cy="640080"/>
          </a:xfrm>
          <a:prstGeom prst="ellipse">
            <a:avLst/>
          </a:prstGeom>
          <a:solidFill>
            <a:srgbClr val="2F3C7E"/>
          </a:solidFill>
          <a:ln/>
        </p:spPr>
      </p:sp>
      <p:pic>
        <p:nvPicPr>
          <p:cNvPr id="6" name="Image 0" descr="/home/claude/proj/icons/clip_w.png">    </p:cNvPr>
          <p:cNvPicPr>
            <a:picLocks noChangeAspect="1"/>
          </p:cNvPicPr>
          <p:nvPr/>
        </p:nvPicPr>
        <p:blipFill>
          <a:blip r:embed="rId1"/>
          <a:stretch>
            <a:fillRect/>
          </a:stretch>
        </p:blipFill>
        <p:spPr>
          <a:xfrm>
            <a:off x="989381" y="2132381"/>
            <a:ext cx="307238" cy="307238"/>
          </a:xfrm>
          <a:prstGeom prst="rect">
            <a:avLst/>
          </a:prstGeom>
        </p:spPr>
      </p:pic>
      <p:sp>
        <p:nvSpPr>
          <p:cNvPr id="7" name="Text 4"/>
          <p:cNvSpPr/>
          <p:nvPr/>
        </p:nvSpPr>
        <p:spPr>
          <a:xfrm>
            <a:off x="1645920" y="2057400"/>
            <a:ext cx="4114800" cy="457200"/>
          </a:xfrm>
          <a:prstGeom prst="rect">
            <a:avLst/>
          </a:prstGeom>
          <a:noFill/>
          <a:ln/>
        </p:spPr>
        <p:txBody>
          <a:bodyPr wrap="square" lIns="0" tIns="0" rIns="0" bIns="0" rtlCol="0" anchor="ctr"/>
          <a:lstStyle/>
          <a:p>
            <a:pPr indent="0" marL="0">
              <a:buNone/>
            </a:pPr>
            <a:r>
              <a:rPr lang="en-US" sz="1700" b="1" dirty="0">
                <a:solidFill>
                  <a:srgbClr val="24263B"/>
                </a:solidFill>
                <a:latin typeface="Calibri" pitchFamily="34" charset="0"/>
                <a:ea typeface="Calibri" pitchFamily="34" charset="-122"/>
                <a:cs typeface="Calibri" pitchFamily="34" charset="-120"/>
              </a:rPr>
              <a:t>Python Notebook</a:t>
            </a:r>
            <a:endParaRPr lang="en-US" sz="1700" dirty="0"/>
          </a:p>
        </p:txBody>
      </p:sp>
      <p:sp>
        <p:nvSpPr>
          <p:cNvPr id="8" name="Text 5"/>
          <p:cNvSpPr/>
          <p:nvPr/>
        </p:nvSpPr>
        <p:spPr>
          <a:xfrm>
            <a:off x="868680" y="2788920"/>
            <a:ext cx="4846320" cy="2834640"/>
          </a:xfrm>
          <a:prstGeom prst="rect">
            <a:avLst/>
          </a:prstGeom>
          <a:noFill/>
          <a:ln/>
        </p:spPr>
        <p:txBody>
          <a:bodyPr wrap="square" lIns="0" tIns="0" rIns="0" bIns="0" rtlCol="0" anchor="t"/>
          <a:lstStyle/>
          <a:p>
            <a:pPr marL="342900" indent="-342900">
              <a:spcAft>
                <a:spcPts val="1200"/>
              </a:spcAft>
              <a:buSzPct val="100000"/>
              <a:buChar char="✦"/>
            </a:pPr>
            <a:r>
              <a:rPr lang="en-US" sz="1250" dirty="0">
                <a:solidFill>
                  <a:srgbClr val="6B7186"/>
                </a:solidFill>
                <a:latin typeface="Calibri" pitchFamily="34" charset="0"/>
                <a:ea typeface="Calibri" pitchFamily="34" charset="-122"/>
                <a:cs typeface="Calibri" pitchFamily="34" charset="-120"/>
              </a:rPr>
              <a:t>Clean, well-documented code with comments</a:t>
            </a:r>
            <a:endParaRPr lang="en-US" sz="1250" dirty="0"/>
          </a:p>
          <a:p>
            <a:pPr marL="342900" indent="-342900">
              <a:spcAft>
                <a:spcPts val="1200"/>
              </a:spcAft>
              <a:buSzPct val="100000"/>
              <a:buChar char="✦"/>
            </a:pPr>
            <a:r>
              <a:rPr lang="en-US" sz="1250" dirty="0">
                <a:solidFill>
                  <a:srgbClr val="6B7186"/>
                </a:solidFill>
                <a:latin typeface="Calibri" pitchFamily="34" charset="0"/>
                <a:ea typeface="Calibri" pitchFamily="34" charset="-122"/>
                <a:cs typeface="Calibri" pitchFamily="34" charset="-120"/>
              </a:rPr>
              <a:t>EDA &amp; clustering visualizations</a:t>
            </a:r>
            <a:endParaRPr lang="en-US" sz="1250" dirty="0"/>
          </a:p>
          <a:p>
            <a:pPr marL="342900" indent="-342900">
              <a:spcAft>
                <a:spcPts val="1200"/>
              </a:spcAft>
              <a:buSzPct val="100000"/>
              <a:buChar char="✦"/>
            </a:pPr>
            <a:r>
              <a:rPr lang="en-US" sz="1250" dirty="0">
                <a:solidFill>
                  <a:srgbClr val="6B7186"/>
                </a:solidFill>
                <a:latin typeface="Calibri" pitchFamily="34" charset="0"/>
                <a:ea typeface="Calibri" pitchFamily="34" charset="-122"/>
                <a:cs typeface="Calibri" pitchFamily="34" charset="-120"/>
              </a:rPr>
              <a:t>RFM segmentation and product similarity analysis</a:t>
            </a:r>
            <a:endParaRPr lang="en-US" sz="1250" dirty="0"/>
          </a:p>
          <a:p>
            <a:pPr marL="342900" indent="-342900">
              <a:spcAft>
                <a:spcPts val="1200"/>
              </a:spcAft>
              <a:buSzPct val="100000"/>
              <a:buChar char="✦"/>
            </a:pPr>
            <a:r>
              <a:rPr lang="en-US" sz="1250" dirty="0">
                <a:solidFill>
                  <a:srgbClr val="6B7186"/>
                </a:solidFill>
                <a:latin typeface="Calibri" pitchFamily="34" charset="0"/>
                <a:ea typeface="Calibri" pitchFamily="34" charset="-122"/>
                <a:cs typeface="Calibri" pitchFamily="34" charset="-120"/>
              </a:rPr>
              <a:t>Model evaluation: inertia &amp; silhouette score</a:t>
            </a:r>
            <a:endParaRPr lang="en-US" sz="1250" dirty="0"/>
          </a:p>
        </p:txBody>
      </p:sp>
      <p:sp>
        <p:nvSpPr>
          <p:cNvPr id="9" name="Shape 6"/>
          <p:cNvSpPr/>
          <p:nvPr/>
        </p:nvSpPr>
        <p:spPr>
          <a:xfrm>
            <a:off x="6309360" y="1691640"/>
            <a:ext cx="5486400" cy="4160520"/>
          </a:xfrm>
          <a:prstGeom prst="roundRect">
            <a:avLst>
              <a:gd name="adj" fmla="val 2198"/>
            </a:avLst>
          </a:prstGeom>
          <a:solidFill>
            <a:srgbClr val="F1F3FA"/>
          </a:solidFill>
          <a:ln/>
          <a:effectLst>
            <a:outerShdw sx="100000" sy="100000" kx="0" ky="0" algn="bl" rotWithShape="0" blurRad="101600" dist="38100" dir="2700000">
              <a:srgbClr val="1A1A2E">
                <a:alpha val="12000"/>
              </a:srgbClr>
            </a:outerShdw>
          </a:effectLst>
        </p:spPr>
      </p:sp>
      <p:sp>
        <p:nvSpPr>
          <p:cNvPr id="10" name="Shape 7"/>
          <p:cNvSpPr/>
          <p:nvPr/>
        </p:nvSpPr>
        <p:spPr>
          <a:xfrm>
            <a:off x="6583680" y="1965960"/>
            <a:ext cx="640080" cy="640080"/>
          </a:xfrm>
          <a:prstGeom prst="ellipse">
            <a:avLst/>
          </a:prstGeom>
          <a:solidFill>
            <a:srgbClr val="2F3C7E"/>
          </a:solidFill>
          <a:ln/>
        </p:spPr>
      </p:sp>
      <p:pic>
        <p:nvPicPr>
          <p:cNvPr id="11" name="Image 1" descr="/home/claude/proj/icons/laptop_w.png">    </p:cNvPr>
          <p:cNvPicPr>
            <a:picLocks noChangeAspect="1"/>
          </p:cNvPicPr>
          <p:nvPr/>
        </p:nvPicPr>
        <p:blipFill>
          <a:blip r:embed="rId2"/>
          <a:stretch>
            <a:fillRect/>
          </a:stretch>
        </p:blipFill>
        <p:spPr>
          <a:xfrm>
            <a:off x="6750101" y="2132381"/>
            <a:ext cx="307238" cy="307238"/>
          </a:xfrm>
          <a:prstGeom prst="rect">
            <a:avLst/>
          </a:prstGeom>
        </p:spPr>
      </p:pic>
      <p:sp>
        <p:nvSpPr>
          <p:cNvPr id="12" name="Text 8"/>
          <p:cNvSpPr/>
          <p:nvPr/>
        </p:nvSpPr>
        <p:spPr>
          <a:xfrm>
            <a:off x="7406640" y="2057400"/>
            <a:ext cx="4114800" cy="457200"/>
          </a:xfrm>
          <a:prstGeom prst="rect">
            <a:avLst/>
          </a:prstGeom>
          <a:noFill/>
          <a:ln/>
        </p:spPr>
        <p:txBody>
          <a:bodyPr wrap="square" lIns="0" tIns="0" rIns="0" bIns="0" rtlCol="0" anchor="ctr"/>
          <a:lstStyle/>
          <a:p>
            <a:pPr indent="0" marL="0">
              <a:buNone/>
            </a:pPr>
            <a:r>
              <a:rPr lang="en-US" sz="1700" b="1" dirty="0">
                <a:solidFill>
                  <a:srgbClr val="24263B"/>
                </a:solidFill>
                <a:latin typeface="Calibri" pitchFamily="34" charset="0"/>
                <a:ea typeface="Calibri" pitchFamily="34" charset="-122"/>
                <a:cs typeface="Calibri" pitchFamily="34" charset="-120"/>
              </a:rPr>
              <a:t>Streamlit Web App</a:t>
            </a:r>
            <a:endParaRPr lang="en-US" sz="1700" dirty="0"/>
          </a:p>
        </p:txBody>
      </p:sp>
      <p:sp>
        <p:nvSpPr>
          <p:cNvPr id="13" name="Text 9"/>
          <p:cNvSpPr/>
          <p:nvPr/>
        </p:nvSpPr>
        <p:spPr>
          <a:xfrm>
            <a:off x="6629400" y="2788920"/>
            <a:ext cx="4846320" cy="2834640"/>
          </a:xfrm>
          <a:prstGeom prst="rect">
            <a:avLst/>
          </a:prstGeom>
          <a:noFill/>
          <a:ln/>
        </p:spPr>
        <p:txBody>
          <a:bodyPr wrap="square" lIns="0" tIns="0" rIns="0" bIns="0" rtlCol="0" anchor="t"/>
          <a:lstStyle/>
          <a:p>
            <a:pPr marL="342900" indent="-342900">
              <a:spcAft>
                <a:spcPts val="1200"/>
              </a:spcAft>
              <a:buSzPct val="100000"/>
              <a:buChar char="✦"/>
            </a:pPr>
            <a:r>
              <a:rPr lang="en-US" sz="1250" dirty="0">
                <a:solidFill>
                  <a:srgbClr val="6B7186"/>
                </a:solidFill>
                <a:latin typeface="Calibri" pitchFamily="34" charset="0"/>
                <a:ea typeface="Calibri" pitchFamily="34" charset="-122"/>
                <a:cs typeface="Calibri" pitchFamily="34" charset="-120"/>
              </a:rPr>
              <a:t>Product name → 5 similar product recommendations</a:t>
            </a:r>
            <a:endParaRPr lang="en-US" sz="1250" dirty="0"/>
          </a:p>
          <a:p>
            <a:pPr marL="342900" indent="-342900">
              <a:spcAft>
                <a:spcPts val="1200"/>
              </a:spcAft>
              <a:buSzPct val="100000"/>
              <a:buChar char="✦"/>
            </a:pPr>
            <a:r>
              <a:rPr lang="en-US" sz="1250" dirty="0">
                <a:solidFill>
                  <a:srgbClr val="6B7186"/>
                </a:solidFill>
                <a:latin typeface="Calibri" pitchFamily="34" charset="0"/>
                <a:ea typeface="Calibri" pitchFamily="34" charset="-122"/>
                <a:cs typeface="Calibri" pitchFamily="34" charset="-120"/>
              </a:rPr>
              <a:t>RFM inputs → predicted customer segment</a:t>
            </a:r>
            <a:endParaRPr lang="en-US" sz="1250" dirty="0"/>
          </a:p>
          <a:p>
            <a:pPr marL="342900" indent="-342900">
              <a:spcAft>
                <a:spcPts val="1200"/>
              </a:spcAft>
              <a:buSzPct val="100000"/>
              <a:buChar char="✦"/>
            </a:pPr>
            <a:r>
              <a:rPr lang="en-US" sz="1250" dirty="0">
                <a:solidFill>
                  <a:srgbClr val="6B7186"/>
                </a:solidFill>
                <a:latin typeface="Calibri" pitchFamily="34" charset="0"/>
                <a:ea typeface="Calibri" pitchFamily="34" charset="-122"/>
                <a:cs typeface="Calibri" pitchFamily="34" charset="-120"/>
              </a:rPr>
              <a:t>Clean, interactive UI with real-time outputs</a:t>
            </a:r>
            <a:endParaRPr lang="en-US" sz="1250" dirty="0"/>
          </a:p>
        </p:txBody>
      </p:sp>
      <p:sp>
        <p:nvSpPr>
          <p:cNvPr id="14" name="Text 10"/>
          <p:cNvSpPr/>
          <p:nvPr/>
        </p:nvSpPr>
        <p:spPr>
          <a:xfrm>
            <a:off x="548640" y="6080760"/>
            <a:ext cx="7315200" cy="320040"/>
          </a:xfrm>
          <a:prstGeom prst="rect">
            <a:avLst/>
          </a:prstGeom>
          <a:noFill/>
          <a:ln/>
        </p:spPr>
        <p:txBody>
          <a:bodyPr wrap="square" lIns="0" tIns="0" rIns="0" bIns="0" rtlCol="0" anchor="ctr"/>
          <a:lstStyle/>
          <a:p>
            <a:pPr indent="0" marL="0">
              <a:buNone/>
            </a:pPr>
            <a:r>
              <a:rPr lang="en-US" sz="1150" i="1" dirty="0">
                <a:solidFill>
                  <a:srgbClr val="6B7186"/>
                </a:solidFill>
                <a:latin typeface="Calibri" pitchFamily="34" charset="0"/>
                <a:ea typeface="Calibri" pitchFamily="34" charset="-122"/>
                <a:cs typeface="Calibri" pitchFamily="34" charset="-120"/>
              </a:rPr>
              <a:t>Timeline: Completed within 8 days of assignment</a:t>
            </a:r>
            <a:endParaRPr lang="en-US" sz="1150" dirty="0"/>
          </a:p>
        </p:txBody>
      </p:sp>
      <p:sp>
        <p:nvSpPr>
          <p:cNvPr id="15" name="Text 11"/>
          <p:cNvSpPr/>
          <p:nvPr/>
        </p:nvSpPr>
        <p:spPr>
          <a:xfrm>
            <a:off x="457200" y="6473952"/>
            <a:ext cx="3657600" cy="274320"/>
          </a:xfrm>
          <a:prstGeom prst="rect">
            <a:avLst/>
          </a:prstGeom>
          <a:noFill/>
          <a:ln/>
        </p:spPr>
        <p:txBody>
          <a:bodyPr wrap="square" lIns="0" tIns="0" rIns="0" bIns="0" rtlCol="0" anchor="ctr"/>
          <a:lstStyle/>
          <a:p>
            <a:pPr indent="0" marL="0">
              <a:buNone/>
            </a:pPr>
            <a:r>
              <a:rPr lang="en-US" sz="900" spc="200" kern="0" dirty="0">
                <a:solidFill>
                  <a:srgbClr val="6B7186"/>
                </a:solidFill>
                <a:latin typeface="Calibri" pitchFamily="34" charset="0"/>
                <a:ea typeface="Calibri" pitchFamily="34" charset="-122"/>
                <a:cs typeface="Calibri" pitchFamily="34" charset="-120"/>
              </a:rPr>
              <a:t>SHOPPER SPECTRUM</a:t>
            </a:r>
            <a:endParaRPr lang="en-US" sz="900" dirty="0"/>
          </a:p>
        </p:txBody>
      </p:sp>
      <p:sp>
        <p:nvSpPr>
          <p:cNvPr id="16" name="Text 12"/>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718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32C5E"/>
        </a:solidFill>
      </p:bgPr>
    </p:bg>
    <p:spTree>
      <p:nvGrpSpPr>
        <p:cNvPr id="1" name=""/>
        <p:cNvGrpSpPr/>
        <p:nvPr/>
      </p:nvGrpSpPr>
      <p:grpSpPr>
        <a:xfrm>
          <a:off x="0" y="0"/>
          <a:ext cx="0" cy="0"/>
          <a:chOff x="0" y="0"/>
          <a:chExt cx="0" cy="0"/>
        </a:xfrm>
      </p:grpSpPr>
      <p:sp>
        <p:nvSpPr>
          <p:cNvPr id="2" name="Shape 0"/>
          <p:cNvSpPr/>
          <p:nvPr/>
        </p:nvSpPr>
        <p:spPr>
          <a:xfrm>
            <a:off x="-1463040" y="-1645920"/>
            <a:ext cx="4937760" cy="4937760"/>
          </a:xfrm>
          <a:prstGeom prst="ellipse">
            <a:avLst/>
          </a:prstGeom>
          <a:solidFill>
            <a:srgbClr val="2F3C7E">
              <a:alpha val="60000"/>
            </a:srgbClr>
          </a:solidFill>
          <a:ln/>
        </p:spPr>
      </p:sp>
      <p:sp>
        <p:nvSpPr>
          <p:cNvPr id="3" name="Shape 1"/>
          <p:cNvSpPr/>
          <p:nvPr/>
        </p:nvSpPr>
        <p:spPr>
          <a:xfrm>
            <a:off x="9509760" y="3840480"/>
            <a:ext cx="3840480" cy="3840480"/>
          </a:xfrm>
          <a:prstGeom prst="ellipse">
            <a:avLst/>
          </a:prstGeom>
          <a:solidFill>
            <a:srgbClr val="F96167">
              <a:alpha val="35000"/>
            </a:srgbClr>
          </a:solidFill>
          <a:ln/>
        </p:spPr>
      </p:sp>
      <p:sp>
        <p:nvSpPr>
          <p:cNvPr id="4" name="Shape 2"/>
          <p:cNvSpPr/>
          <p:nvPr/>
        </p:nvSpPr>
        <p:spPr>
          <a:xfrm>
            <a:off x="5682996" y="1965960"/>
            <a:ext cx="822960" cy="822960"/>
          </a:xfrm>
          <a:prstGeom prst="ellipse">
            <a:avLst/>
          </a:prstGeom>
          <a:solidFill>
            <a:srgbClr val="F96167"/>
          </a:solidFill>
          <a:ln/>
        </p:spPr>
      </p:sp>
      <p:pic>
        <p:nvPicPr>
          <p:cNvPr id="5" name="Image 0" descr="/home/claude/proj/icons/cart_w.png">    </p:cNvPr>
          <p:cNvPicPr>
            <a:picLocks noChangeAspect="1"/>
          </p:cNvPicPr>
          <p:nvPr/>
        </p:nvPicPr>
        <p:blipFill>
          <a:blip r:embed="rId1"/>
          <a:stretch>
            <a:fillRect/>
          </a:stretch>
        </p:blipFill>
        <p:spPr>
          <a:xfrm>
            <a:off x="5896966" y="2179930"/>
            <a:ext cx="395021" cy="395021"/>
          </a:xfrm>
          <a:prstGeom prst="rect">
            <a:avLst/>
          </a:prstGeom>
        </p:spPr>
      </p:pic>
      <p:sp>
        <p:nvSpPr>
          <p:cNvPr id="6" name="Text 3"/>
          <p:cNvSpPr/>
          <p:nvPr/>
        </p:nvSpPr>
        <p:spPr>
          <a:xfrm>
            <a:off x="0" y="3017520"/>
            <a:ext cx="12188952" cy="82296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Thank You</a:t>
            </a:r>
            <a:endParaRPr lang="en-US" sz="3800" dirty="0"/>
          </a:p>
        </p:txBody>
      </p:sp>
      <p:sp>
        <p:nvSpPr>
          <p:cNvPr id="7" name="Text 4"/>
          <p:cNvSpPr/>
          <p:nvPr/>
        </p:nvSpPr>
        <p:spPr>
          <a:xfrm>
            <a:off x="1522476" y="3794760"/>
            <a:ext cx="9144000" cy="457200"/>
          </a:xfrm>
          <a:prstGeom prst="rect">
            <a:avLst/>
          </a:prstGeom>
          <a:noFill/>
          <a:ln/>
        </p:spPr>
        <p:txBody>
          <a:bodyPr wrap="square" lIns="0" tIns="0" rIns="0" bIns="0" rtlCol="0" anchor="ctr"/>
          <a:lstStyle/>
          <a:p>
            <a:pPr algn="ctr" indent="0" marL="0">
              <a:buNone/>
            </a:pPr>
            <a:r>
              <a:rPr lang="en-US" sz="1400" dirty="0">
                <a:solidFill>
                  <a:srgbClr val="CADCFC"/>
                </a:solidFill>
                <a:latin typeface="Calibri" pitchFamily="34" charset="0"/>
                <a:ea typeface="Calibri" pitchFamily="34" charset="-122"/>
                <a:cs typeface="Calibri" pitchFamily="34" charset="-120"/>
              </a:rPr>
              <a:t>Shopper Spectrum — Customer Segmentation &amp; Product Recommendations in E-Commerce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Shopper Spectrum - Customer Segmentation &amp; Recommendations</dc:title>
  <dc:subject>PptxGenJS Presentation</dc:subject>
  <dc:creator>Shopper Spectrum Project</dc:creator>
  <cp:lastModifiedBy>Shopper Spectrum Project</cp:lastModifiedBy>
  <cp:revision>1</cp:revision>
  <dcterms:created xsi:type="dcterms:W3CDTF">2026-07-01T19:03:41Z</dcterms:created>
  <dcterms:modified xsi:type="dcterms:W3CDTF">2026-07-01T19:03:41Z</dcterms:modified>
</cp:coreProperties>
</file>